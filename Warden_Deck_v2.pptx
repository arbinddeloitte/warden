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41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24"/>
    <p:sldId id="269" r:id="rId25"/>
    <p:sldId id="270" r:id="rId26"/>
    <p:sldId id="265" r:id="rId14"/>
    <p:sldId id="266" r:id="rId15"/>
    <p:sldId id="267" r:id="rId16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rand basics" id="{8EE32D32-E91A-427D-B680-3FF11AABE0B8}">
          <p14:sldIdLst/>
        </p14:section>
        <p14:section name="Content slides" id="{49CC7682-57B2-4455-BD9B-709563297FE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 autoAdjust="0"/>
    <p:restoredTop sz="92603" autoAdjust="0"/>
  </p:normalViewPr>
  <p:slideViewPr>
    <p:cSldViewPr snapToGrid="0" showGuides="1">
      <p:cViewPr>
        <p:scale>
          <a:sx n="74" d="100"/>
          <a:sy n="74" d="100"/>
        </p:scale>
        <p:origin x="240" y="-172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10/23/2026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6970A4B-B432-0F69-C312-D57C3DF06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FA620-B23E-0D62-CFAF-C7B1EE2DF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15A3-99EF-FC55-DE24-58D79C1DD2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5BA9B-7574-E325-E1B5-3C428C7E4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5E4CF2D-5153-8731-E935-35A755051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9EDB7-3AF4-61F2-2C8B-4480E13D1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7FD6-A665-B2C8-96D2-2FEF2679A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0F31-D882-A06D-7681-1B913A76E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0BD8-2D84-8179-A640-57E37904E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F294-5C31-F69F-426C-BF45033D4D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732D-80FD-BC4D-437C-614EF3BEB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F98FE-74F2-7A89-9D1B-2E3424F33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0612E835-F4A9-E28C-C385-D7BF39346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0A4EC9DF-8A5A-81C7-A2F0-1416E458E773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6A3C83B-1E93-24DD-B4CF-4F673E59352B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CDE2B-37F4-6423-B520-C4665B2B512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pic>
        <p:nvPicPr>
          <p:cNvPr id="3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BE3412DA-AF8A-F83F-A01C-B4141E94F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D522F1A-76ED-9748-3E86-16A48ACAC575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BCC36DE-11BE-ACD5-8C25-3380E547E1BC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A064D-8615-4934-CF57-1312C16D8F9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7C3E-3181-DBCE-56F9-25416E469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50732A-3DE1-9BA2-E38D-3560C50C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49632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568280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067E-6C35-538A-0F4D-694ED960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30800F-FAB6-D47D-41C2-29C4D5E929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tags" Target="../tags/tag2.xml"/><Relationship Id="rId60" Type="http://schemas.openxmlformats.org/officeDocument/2006/relationships/oleObject" Target="../embeddings/oleObject1.bin"/><Relationship Id="rId6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9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0" imgW="270" imgH="270" progId="TCLayout.ActiveDocument.1">
                  <p:embed/>
                </p:oleObj>
              </mc:Choice>
              <mc:Fallback>
                <p:oleObj name="think-cell Slide" r:id="rId6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  <p:sldLayoutId id="2147484422" r:id="rId12"/>
    <p:sldLayoutId id="2147484423" r:id="rId13"/>
    <p:sldLayoutId id="2147484424" r:id="rId14"/>
    <p:sldLayoutId id="2147484425" r:id="rId15"/>
    <p:sldLayoutId id="2147484426" r:id="rId16"/>
    <p:sldLayoutId id="2147484427" r:id="rId17"/>
    <p:sldLayoutId id="2147484428" r:id="rId18"/>
    <p:sldLayoutId id="2147484429" r:id="rId19"/>
    <p:sldLayoutId id="2147484430" r:id="rId20"/>
    <p:sldLayoutId id="2147484431" r:id="rId21"/>
    <p:sldLayoutId id="2147484432" r:id="rId22"/>
    <p:sldLayoutId id="2147484433" r:id="rId23"/>
    <p:sldLayoutId id="2147484434" r:id="rId24"/>
    <p:sldLayoutId id="2147484435" r:id="rId25"/>
    <p:sldLayoutId id="2147484436" r:id="rId26"/>
    <p:sldLayoutId id="2147484437" r:id="rId27"/>
    <p:sldLayoutId id="2147484438" r:id="rId28"/>
    <p:sldLayoutId id="2147484439" r:id="rId29"/>
    <p:sldLayoutId id="2147484440" r:id="rId30"/>
    <p:sldLayoutId id="2147484441" r:id="rId31"/>
    <p:sldLayoutId id="2147484442" r:id="rId32"/>
    <p:sldLayoutId id="2147484443" r:id="rId33"/>
    <p:sldLayoutId id="2147484444" r:id="rId34"/>
    <p:sldLayoutId id="2147484445" r:id="rId35"/>
    <p:sldLayoutId id="2147484446" r:id="rId36"/>
    <p:sldLayoutId id="2147484447" r:id="rId37"/>
    <p:sldLayoutId id="2147484448" r:id="rId38"/>
    <p:sldLayoutId id="2147484449" r:id="rId39"/>
    <p:sldLayoutId id="2147484450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51" r:id="rId49"/>
    <p:sldLayoutId id="2147484452" r:id="rId50"/>
    <p:sldLayoutId id="2147484453" r:id="rId51"/>
    <p:sldLayoutId id="2147484454" r:id="rId52"/>
    <p:sldLayoutId id="2147484455" r:id="rId53"/>
    <p:sldLayoutId id="2147484456" r:id="rId54"/>
    <p:sldLayoutId id="2147484457" r:id="rId55"/>
    <p:sldLayoutId id="2147484458" r:id="rId56"/>
    <p:sldLayoutId id="2147484459" r:id="rId57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5022302"/>
            <a:ext cx="4490721" cy="895983"/>
          </a:xfrm>
        </p:spPr>
        <p:txBody>
          <a:bodyPr/>
          <a:lstStyle/>
          <a:p>
            <a:r>
              <a:rPr dirty="0">
                <a:latin typeface="Aptos"/>
              </a:rPr>
              <a:t>Securing the Agentic Enterprise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1" y="6201941"/>
            <a:ext cx="4490721" cy="180000"/>
          </a:xfrm>
        </p:spPr>
        <p:txBody>
          <a:bodyPr/>
          <a:lstStyle/>
          <a:p>
            <a:r>
              <a:rPr dirty="0">
                <a:latin typeface="Aptos"/>
              </a:rPr>
              <a:t>Identity-Preserving MCP with OAuth On-Behalf-Of Token Exchange</a:t>
            </a:r>
          </a:p>
        </p:txBody>
      </p:sp>
      <p:pic>
        <p:nvPicPr>
          <p:cNvPr id="4" name="Picture Placeholder 3" descr="GettyImages-1148091793.jp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875" r="21875"/>
          <a:stretch>
            <a:fillRect/>
          </a:stretch>
        </p:blipFill>
        <p:spPr/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53947D1-19F0-2EE4-D23B-D65D738BFAC8}"/>
              </a:ext>
            </a:extLst>
          </p:cNvPr>
          <p:cNvSpPr txBox="1">
            <a:spLocks/>
          </p:cNvSpPr>
          <p:nvPr/>
        </p:nvSpPr>
        <p:spPr bwMode="gray">
          <a:xfrm>
            <a:off x="457200" y="3022381"/>
            <a:ext cx="4490721" cy="89598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6858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3200" b="0" kern="120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z="720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Warden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2765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AI Agents Are Proliferating — And Almost No One Knows Who They're Acting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1405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ptos"/>
              </a:rPr>
              <a:t>Agentic AI is moving faster than the identity infrastructure designed to govern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5571"/>
            <a:ext cx="354787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86BC25"/>
                </a:solidFill>
                <a:latin typeface="Aptos"/>
              </a:rP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of enterprises reported AI agent security incidents last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VentureBeat / Gravitee Survey,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925571"/>
            <a:ext cx="354787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5112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D8390"/>
                </a:solidFill>
                <a:latin typeface="Aptos"/>
              </a:rPr>
              <a:t>45.6%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of AI teams still rely on shared API keys for agent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Gravitee Agentic AI Survey,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925571"/>
            <a:ext cx="3547872" cy="5486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93024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76A8"/>
                </a:solidFill>
                <a:latin typeface="Aptos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MCP-related CVEs disclosed in first two months of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Cloud Security Alliance, May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71491"/>
            <a:ext cx="3547872" cy="40233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No User Identity 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Agents authenticate as themselves — not the user. Actions cannot be attributed to the person who initiated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3571491"/>
            <a:ext cx="3547872" cy="40233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Over-Privileged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Client credentials grant god-mode access. One compromised key exposes every user's data system-wide.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571491"/>
            <a:ext cx="3547872" cy="402336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Zero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No log can reconstruct which user triggered an action, what scope was granted, or whether the agent exceeded its mandate.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47592"/>
            <a:ext cx="12188952" cy="685800"/>
          </a:xfrm>
          <a:prstGeom prst="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20744"/>
            <a:ext cx="1127455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AI agent era demands a new identity contract — where every action is traceable to a specific human, bounded by that person's grants, and enforced at the protocol layer.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0176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VentureBeat, 2025; Gravitee Agentic AI Survey, 2025; Cloud Security Alliance MCP Security Note,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MCP Without Identity Controls Creates Systemic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3547872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Authentication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MCP authentication was optional until November 2025. A July 2025 scan found 1,862 servers responding to unauthenticated requests. Even where tokens are now required, they authenticate the agent — not the user the agent is acting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712463"/>
            <a:ext cx="327355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BC25"/>
                </a:solidFill>
                <a:latin typeface="Aptos"/>
              </a:rPr>
              <a:t>Real-world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act as themselves. No downstream system can see which human authorized the request — attribution is structurally impossible.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682496"/>
            <a:ext cx="3547872" cy="438912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Credential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run with static API keys or long-lived client credentials — the highest-privilege grant type. No scope reduction per call, no session binding, no expiry tied to a user session, no per-user isolation. The same key works for every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2272" y="3712463"/>
            <a:ext cx="327355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8390"/>
                </a:solidFill>
                <a:latin typeface="Aptos"/>
              </a:rPr>
              <a:t>Real-world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One compromised credential is a full-system breach. No blast-radius limit. No per-user revocation. Every user's data at risk simultaneously.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682496"/>
            <a:ext cx="3547872" cy="43891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Attribution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When an agent acts, logs record the agent's client ID — not the human it worked for. GDPR Article 5, PSD2 SCA, and SOX IT controls all require identifying which natural person authorised each action taken on their behalf.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4" y="3712463"/>
            <a:ext cx="3273552" cy="5486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ptos"/>
              </a:rPr>
              <a:t>Real-world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Compliance evidence cannot be produced on demand. Forensic investigation is impossible by design. Regulatory exposure is not theoretical — it is guaranteed.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75787B"/>
                </a:solidFill>
                <a:latin typeface="Aptos"/>
              </a:rPr>
              <a:t>Cloud Security Alliance MCP Security Note, May 2026; </a:t>
            </a:r>
            <a:r>
              <a:rPr sz="800" b="0" dirty="0" err="1">
                <a:solidFill>
                  <a:srgbClr val="75787B"/>
                </a:solidFill>
                <a:latin typeface="Aptos"/>
              </a:rPr>
              <a:t>Gravitee</a:t>
            </a:r>
            <a:r>
              <a:rPr sz="800" b="0" dirty="0">
                <a:solidFill>
                  <a:srgbClr val="75787B"/>
                </a:solidFill>
                <a:latin typeface="Aptos"/>
              </a:rPr>
              <a:t> Agentic AI Survey, 2025; VentureBeat,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Introducing Warden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034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Warden: The Identity-Aware Gateway for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9898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ptos"/>
              </a:rPr>
              <a:t>Four interlocking controls that preserve who the user is — from browser session to database action</a:t>
            </a:r>
          </a:p>
        </p:txBody>
      </p:sp>
      <p:sp>
        <p:nvSpPr>
          <p:cNvPr id="5" name="Oval 4"/>
          <p:cNvSpPr/>
          <p:nvPr/>
        </p:nvSpPr>
        <p:spPr>
          <a:xfrm>
            <a:off x="1298448" y="1956435"/>
            <a:ext cx="530352" cy="530352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2596515"/>
            <a:ext cx="281635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5448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6BC25"/>
                </a:solidFill>
                <a:latin typeface="Aptos"/>
              </a:rPr>
              <a:t>Standards-Based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RFC 8693 token exchange (OAuth 2.0 OBO). Compatible with any compliant IdP — Okta, Azure AD, Ping Identity. No proprietary protocols. No vendor lock-in.</a:t>
            </a:r>
          </a:p>
        </p:txBody>
      </p:sp>
      <p:sp>
        <p:nvSpPr>
          <p:cNvPr id="10" name="Oval 9"/>
          <p:cNvSpPr/>
          <p:nvPr/>
        </p:nvSpPr>
        <p:spPr>
          <a:xfrm>
            <a:off x="4197096" y="1956435"/>
            <a:ext cx="530352" cy="530352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2596515"/>
            <a:ext cx="281635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54096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63824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8390"/>
                </a:solidFill>
                <a:latin typeface="Aptos"/>
              </a:rPr>
              <a:t>Cedar-Style Policy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Deny-by-default. Every tool call evaluated against permit/forbid rules keyed on user scope, group membership, and declared agent identity. Forbid wins on tied priority.</a:t>
            </a:r>
          </a:p>
        </p:txBody>
      </p:sp>
      <p:sp>
        <p:nvSpPr>
          <p:cNvPr id="15" name="Oval 14"/>
          <p:cNvSpPr/>
          <p:nvPr/>
        </p:nvSpPr>
        <p:spPr>
          <a:xfrm>
            <a:off x="7095744" y="1956435"/>
            <a:ext cx="530352" cy="530352"/>
          </a:xfrm>
          <a:prstGeom prst="ellipse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2596515"/>
            <a:ext cx="2816352" cy="5486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52744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2472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A8"/>
                </a:solidFill>
                <a:latin typeface="Aptos"/>
              </a:rPr>
              <a:t>Immutable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Every proxied call recorded: user sub, agent name, tool invoked, OBO token claims, timestamp, and outcome. Full chain of custody for compliance and forensic review.</a:t>
            </a:r>
          </a:p>
        </p:txBody>
      </p:sp>
      <p:sp>
        <p:nvSpPr>
          <p:cNvPr id="20" name="Oval 19"/>
          <p:cNvSpPr/>
          <p:nvPr/>
        </p:nvSpPr>
        <p:spPr>
          <a:xfrm>
            <a:off x="9994392" y="1956435"/>
            <a:ext cx="530352" cy="5303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1392" y="2596515"/>
            <a:ext cx="2816352" cy="5486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51392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19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Aptos"/>
              </a:rPr>
              <a:t>Zero Shared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Agents never hold user passwords or long-lived API keys. Short-lived OBO tokens are scoped to the minimum required audience and Redis-cached to limit Okta round-trips.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607"/>
            <a:ext cx="11274552" cy="342000"/>
          </a:xfrm>
        </p:spPr>
        <p:txBody>
          <a:bodyPr/>
          <a:lstStyle/>
          <a:p>
            <a:r>
              <a:rPr dirty="0">
                <a:latin typeface="Aptos"/>
              </a:rPr>
              <a:t>Step 1 — Registering an MCP Server with Warden</a:t>
            </a:r>
          </a:p>
        </p:txBody>
      </p:sp>
      <p:sp>
        <p:nvSpPr>
          <p:cNvPr id="3" name="Oval 2"/>
          <p:cNvSpPr/>
          <p:nvPr/>
        </p:nvSpPr>
        <p:spPr>
          <a:xfrm>
            <a:off x="1261872" y="1682496"/>
            <a:ext cx="493776" cy="49377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Register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Point Warden at your MCP server URL. Assign a one-time access token for the initial handshake.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56432" y="1682496"/>
            <a:ext cx="493776" cy="493776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286000"/>
            <a:ext cx="2103120" cy="365760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Configure Okta OBO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Supply the Okta credentials: issuer, client ID, client secret. Warden uses these for OBO exchange — agents never see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50992" y="1682496"/>
            <a:ext cx="493776" cy="493776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2103120" cy="36576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947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Set Token 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Define the downstream audience (e.g. api://banking-mcp). Every OBO exchange scopes the token precisely to this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45551" y="1682496"/>
            <a:ext cx="493776" cy="493776"/>
          </a:xfrm>
          <a:prstGeom prst="ellipse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79" y="2286000"/>
            <a:ext cx="2103120" cy="36576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1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Create Warden Instance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79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9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ptos"/>
              </a:rPr>
              <a:t>Name the routing context (e.g. banking-agent). This logical ID is what agents reference — an abstraction over the physical server.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40112" y="1682496"/>
            <a:ext cx="493776" cy="493776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286000"/>
            <a:ext cx="2103120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Author Policies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Write Cedar-style rules: deny calls without a user token; restrict approve_payment to users with the payments:approve scope.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22191"/>
            <a:ext cx="11274552" cy="402336"/>
          </a:xfrm>
          <a:prstGeom prst="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877056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After onboarding, Warden enforces all controls on every subsequent call automatically — no code changes required in the agent or MCP server.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70832"/>
            <a:ext cx="3547872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Zero-Touch Enforcement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Identity checks, OBO exchange, and audit log activate on every tool call automatically.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370832"/>
            <a:ext cx="3547872" cy="36576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16552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Policies Live Immediately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5112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New Cedar rules are evaluated without redeployment. Block or allow by changing configuration only.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4" y="4370832"/>
            <a:ext cx="3547872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84464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No Agent Changes Needed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4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02752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continue sending the same three headers. Warden handles all identity work transparently.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One-time registration per MCP server. Warden routing contexts and policies can be updated at runtime without redeployment.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Warden Is the Trust Boundary — Nothing Bypasses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960120" cy="731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1883664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682496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73936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Every inbound MCP tool call passes through Warden. Registered MCP servers are unreachable by agents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960120" cy="731520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Authenticate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468880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56032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Validates the gateway bearer token. Extracts x-user-token header. Calls without a user token are rejected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55264"/>
            <a:ext cx="960120" cy="73152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3456432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255264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346704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RFC 8693 OBO exchange with Okta using Warden's own credentials. Resulting token cached in Redis by token fingerprint.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41648"/>
            <a:ext cx="960120" cy="7315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4242816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Policy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041648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133087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Cedar-style policy evaluation. Deny-by-default. A forbid rule of equal or higher priority than any matching permit wins.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28032"/>
            <a:ext cx="960120" cy="7315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5029200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Proxy and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828032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4919472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Forwards the call with the OBO token. Records user sub, agent name, tool, claims, timestamp, and outcome to the audit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1682496"/>
            <a:ext cx="5477256" cy="402336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17282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Key Design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2157984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2212848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fallback_to_client_credentials: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505456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The gateway NEVER uses its own credentials. No user token = no access, always.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2999232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3054096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Redis-backed OBO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346703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Exchanged tokens cached by token fingerprint. Eliminates redundant Okta calls under load.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840480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3895344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Warden routing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187952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Each Warden instance is a separate routing context. Banking agent cannot reach HR or finance MCP servers.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4681728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736592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Scope pass-through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029200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OBO exchange forwards only domain scopes. OIDC scopes (openid, profile, email) stripped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RFC 8693 On-Behalf-Of: User Identity Preserved Across Every Hop</a:t>
            </a:r>
          </a:p>
        </p:txBody>
      </p:sp>
      <p:sp>
        <p:nvSpPr>
          <p:cNvPr id="3" name="Oval 2"/>
          <p:cNvSpPr/>
          <p:nvPr/>
        </p:nvSpPr>
        <p:spPr>
          <a:xfrm>
            <a:off x="1993391" y="1682496"/>
            <a:ext cx="475488" cy="47548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9424"/>
            <a:ext cx="3547872" cy="34747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 Authenticates via Okta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User signs in via Authorization Code + PKCE. Receives access_token with aud: api://banking — scoped to banking operations only.</a:t>
            </a:r>
          </a:p>
        </p:txBody>
      </p:sp>
      <p:sp>
        <p:nvSpPr>
          <p:cNvPr id="8" name="Oval 7"/>
          <p:cNvSpPr/>
          <p:nvPr/>
        </p:nvSpPr>
        <p:spPr>
          <a:xfrm>
            <a:off x="5623559" y="1682496"/>
            <a:ext cx="475488" cy="47548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2249424"/>
            <a:ext cx="3547872" cy="347472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78807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Agent Acquires User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7096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 obtains the user's access_token via PKCE browser flow or explicit paste. This becomes the user delegation credential.</a:t>
            </a:r>
          </a:p>
        </p:txBody>
      </p:sp>
      <p:sp>
        <p:nvSpPr>
          <p:cNvPr id="13" name="Oval 12"/>
          <p:cNvSpPr/>
          <p:nvPr/>
        </p:nvSpPr>
        <p:spPr>
          <a:xfrm>
            <a:off x="9253728" y="1682496"/>
            <a:ext cx="475488" cy="475488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536" y="2249424"/>
            <a:ext cx="3547872" cy="347472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5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Warden Intercepts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3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Warden receives the tool call. Validates gateway bearer, extracts x-user-token, evaluates Cedar-style policy rules.</a:t>
            </a:r>
          </a:p>
        </p:txBody>
      </p:sp>
      <p:sp>
        <p:nvSpPr>
          <p:cNvPr id="18" name="Oval 17"/>
          <p:cNvSpPr/>
          <p:nvPr/>
        </p:nvSpPr>
        <p:spPr>
          <a:xfrm>
            <a:off x="1993391" y="3703320"/>
            <a:ext cx="475488" cy="475488"/>
          </a:xfrm>
          <a:prstGeom prst="ellipse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70248"/>
            <a:ext cx="3547872" cy="347472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OBO Exchange with Okta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Warden posts RFC 8693 token exchange to Okta Auth Server B with its own client credentials and user token as subject_token.</a:t>
            </a:r>
          </a:p>
        </p:txBody>
      </p:sp>
      <p:sp>
        <p:nvSpPr>
          <p:cNvPr id="23" name="Oval 22"/>
          <p:cNvSpPr/>
          <p:nvPr/>
        </p:nvSpPr>
        <p:spPr>
          <a:xfrm>
            <a:off x="5623559" y="3703320"/>
            <a:ext cx="475488" cy="475488"/>
          </a:xfrm>
          <a:prstGeom prst="ellipse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7368" y="4270248"/>
            <a:ext cx="3547872" cy="347472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78807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OBO Token Returned and Cached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97096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Okta returns a new access_token scoped to api://banking-mcp, preserving user sub. Result cached in Redis for subsequent calls.</a:t>
            </a:r>
          </a:p>
        </p:txBody>
      </p:sp>
      <p:sp>
        <p:nvSpPr>
          <p:cNvPr id="28" name="Oval 27"/>
          <p:cNvSpPr/>
          <p:nvPr/>
        </p:nvSpPr>
        <p:spPr>
          <a:xfrm>
            <a:off x="9253728" y="3703320"/>
            <a:ext cx="475488" cy="475488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4270248"/>
            <a:ext cx="3547872" cy="3474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08975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Backend Executes as the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17536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27263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Banking MCP server decodes the OBO token, reads user sub, calls getOrCreateUser() — every database action bound to that user.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The agent never holds the user's password. The backend never trusts the agent directly. Okta validates every hop cryptographically.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Deny-by-Default: The Cedar-Style Policy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5394960" cy="40233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728216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Evaluation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57984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Default Deny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No permit match = blocked. No implicit trust, no silent pass-through.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71215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92607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Priority-Ordered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Rules sorted by priority integer. Higher-priority forbids override lower-priority permits.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84448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6393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Condition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scope_contains · group_contains · sub_equals — and _any variants for multi-value matching. Composable per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525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Action Wildcards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ptos"/>
              </a:rPr>
              <a:t>Match any tool (*) on any server (*</a:t>
            </a:r>
            <a:r>
              <a:rPr lang="en-US" sz="1000" b="0" dirty="0">
                <a:solidFill>
                  <a:srgbClr val="000000"/>
                </a:solidFill>
                <a:latin typeface="Aptos"/>
              </a:rPr>
              <a:t>) or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target specific combinations: </a:t>
            </a:r>
            <a:r>
              <a:rPr sz="1000" b="0" dirty="0" err="1">
                <a:solidFill>
                  <a:srgbClr val="000000"/>
                </a:solidFill>
                <a:latin typeface="Aptos"/>
              </a:rPr>
              <a:t>approve_payment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on banking-</a:t>
            </a:r>
            <a:r>
              <a:rPr sz="1000" b="0" dirty="0" err="1">
                <a:solidFill>
                  <a:srgbClr val="000000"/>
                </a:solidFill>
                <a:latin typeface="Aptos"/>
              </a:rPr>
              <a:t>mcp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10912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Forbid Wins on Tie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1266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Equal-priority forbid beats any matching permit — the engine errs on the side of caution.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682496"/>
            <a:ext cx="5477256" cy="40233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7282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 Policy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157984"/>
            <a:ext cx="547725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4496" y="2157984"/>
            <a:ext cx="73152" cy="100584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212848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8390"/>
                </a:solidFill>
                <a:latin typeface="Aptos"/>
              </a:rPr>
              <a:t>FORBID — Priority 100 — All Tools (*)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523744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No x-user-token header present
Effect: Deny immediately. No anonymous agent access under any circumstance.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255264"/>
            <a:ext cx="547725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54496" y="3255264"/>
            <a:ext cx="73152" cy="10058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310128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80"/>
                </a:solidFill>
                <a:latin typeface="Aptos"/>
              </a:rPr>
              <a:t>FORBID — Priority 90 — All Tools (*)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21024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X-Agent-Token not in the approved agents list
Effect: Silently block undeclared agents. Only registered identities may call.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4352544"/>
            <a:ext cx="5477256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54496" y="4352544"/>
            <a:ext cx="73152" cy="1097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407407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BC25"/>
                </a:solidFill>
                <a:latin typeface="Aptos"/>
              </a:rPr>
              <a:t>PERMIT — Priority 50 — approve_payment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718304"/>
            <a:ext cx="52212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scope_contains payments:approve AND group_contains banking-managers
Effect: Only managers with the explicit approval scope may invoke this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ptos"/>
              </a:rPr>
              <a:t>The Complete Picture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End-to-End Identity Flow: From User Login to Secure Tool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ptos"/>
              </a:rPr>
              <a:t>User identity preserved and scope-limited at every hop — no shared credentials, no implicit trust, full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389888" cy="10789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" y="141732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 &amp;
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4752" y="1078992"/>
            <a:ext cx="10671048" cy="107899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2212848"/>
            <a:ext cx="1389888" cy="146304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" y="2743199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2212848"/>
            <a:ext cx="10671048" cy="14630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3730752"/>
            <a:ext cx="1389888" cy="9601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" y="400964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Okta
Auth Server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4752" y="3730752"/>
            <a:ext cx="10671048" cy="9601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45736"/>
            <a:ext cx="1389888" cy="8229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" y="495604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Banking
MCP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4745736"/>
            <a:ext cx="10671048" cy="8229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0" y="1115568"/>
            <a:ext cx="228600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1 — PKCE 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User signs in to the banking app via Okta. Receives access_token (aud: api://banking).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1224" y="1115568"/>
            <a:ext cx="2286000" cy="292608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 — Token to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21224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2664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User's access_token shared with Python agent via PKCE flow or explicit paste.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1" y="1115568"/>
            <a:ext cx="2286000" cy="29260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1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 — MCP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1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 sends MCP tool call with x-user-token and X-Agent-Token identity headers.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2249424"/>
            <a:ext cx="2286000" cy="29260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0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4 — Policy 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0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Deny-by-default Cedar policy evaluated. User token and agent identity validated. No permit match = call blocked.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1224" y="2249424"/>
            <a:ext cx="2286000" cy="292608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12664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5 — OBO Exchange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21224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12664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RFC 8693 token exchange posted to Okta Auth Server B. User token as subject_token. Result cached in Redis.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57031" y="2249424"/>
            <a:ext cx="2286000" cy="292608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48471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6 — Proxy +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7031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8471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MCP call forwarded to Banking MCP Server with OBO token. Full invocation record written to audit log.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1224" y="3767328"/>
            <a:ext cx="2286000" cy="2743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12664" y="379476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7 — OBO Token Issued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21224" y="4041648"/>
            <a:ext cx="2286000" cy="58521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12664" y="409651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Exchange validated. Issues token (aud: api://banking-mcp) with user sub claim preserved.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1" y="4782312"/>
            <a:ext cx="2286000" cy="2743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48471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8 — Execute as the User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7031" y="5056632"/>
            <a:ext cx="2286000" cy="51206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48471" y="51023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OBO token decoded, user sub read. Every action bound to that user via getOrCreateUser(sub).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89059" y="2084831"/>
            <a:ext cx="21945" cy="12801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53251" y="3657600"/>
            <a:ext cx="21945" cy="73152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389059" y="3657600"/>
            <a:ext cx="21945" cy="1088136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65099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No shared credentials · Every call audited · Okta validates every hop · User sub preserved end-to-end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800">
                <a:latin typeface="Aptos"/>
              </a:rPr>
              <a:t>Copyright © 2026 Deloitte Development LLC.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2DDF8-37E6-67FA-07C8-720E12FA510E}"/>
              </a:ext>
            </a:extLst>
          </p:cNvPr>
          <p:cNvSpPr txBox="1"/>
          <p:nvPr/>
        </p:nvSpPr>
        <p:spPr>
          <a:xfrm>
            <a:off x="4331718" y="2921168"/>
            <a:ext cx="35285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Aptos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Warden Intercepts Every Message — In Both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87B"/>
                </a:solidFill>
                <a:latin typeface="Aptos"/>
              </a:rPr>
              <a:t>Every tool call passes through two inspection gates — inbound before execution, outbound before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417320" cy="640080"/>
          </a:xfrm>
          <a:prstGeom prst="round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User
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417320"/>
            <a:ext cx="1417320" cy="64008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Inbound
Scanner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417320"/>
            <a:ext cx="1417320" cy="640080"/>
          </a:xfrm>
          <a:prstGeom prst="round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Policy
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417320"/>
            <a:ext cx="1417320" cy="64008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08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MCP
Tool Call</a:t>
            </a:r>
          </a:p>
        </p:txBody>
      </p:sp>
      <p:sp>
        <p:nvSpPr>
          <p:cNvPr id="12" name="Can 11"/>
          <p:cNvSpPr/>
          <p:nvPr/>
        </p:nvSpPr>
        <p:spPr>
          <a:xfrm>
            <a:off x="1920240" y="161848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3611880" y="161848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5303520" y="161848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48840" y="2286000"/>
            <a:ext cx="14173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350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✕ 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2286000"/>
            <a:ext cx="1417320" cy="411480"/>
          </a:xfrm>
          <a:prstGeom prst="round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350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⬛  MASK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286000"/>
            <a:ext cx="1417320" cy="411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350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0D0D0"/>
                </a:solidFill>
                <a:latin typeface="Aptos"/>
              </a:rPr>
              <a:t>⚠  WARN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5787B"/>
                </a:solidFill>
                <a:latin typeface="Aptos"/>
              </a:rPr>
              <a:t>Inbound actions: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11274552" cy="18288"/>
          </a:xfrm>
          <a:prstGeom prst="roundRect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063240"/>
            <a:ext cx="1417320" cy="640080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MCP
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3063240"/>
            <a:ext cx="1417320" cy="64008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Outbound
Scanner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063240"/>
            <a:ext cx="1417320" cy="640080"/>
          </a:xfrm>
          <a:prstGeom prst="round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PII
Masking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063240"/>
            <a:ext cx="1417320" cy="640080"/>
          </a:xfrm>
          <a:prstGeom prst="round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15468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Caller
Response</a:t>
            </a:r>
          </a:p>
        </p:txBody>
      </p:sp>
      <p:sp>
        <p:nvSpPr>
          <p:cNvPr id="31" name="Can 30"/>
          <p:cNvSpPr/>
          <p:nvPr/>
        </p:nvSpPr>
        <p:spPr>
          <a:xfrm>
            <a:off x="1920240" y="326440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n 31"/>
          <p:cNvSpPr/>
          <p:nvPr/>
        </p:nvSpPr>
        <p:spPr>
          <a:xfrm>
            <a:off x="3611880" y="326440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n 32"/>
          <p:cNvSpPr/>
          <p:nvPr/>
        </p:nvSpPr>
        <p:spPr>
          <a:xfrm>
            <a:off x="5303520" y="3264408"/>
            <a:ext cx="228600" cy="237744"/>
          </a:xfrm>
          <a:prstGeom prst="can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48840" y="3931920"/>
            <a:ext cx="8668512" cy="5943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40050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Before:  "iban": "US64SVBK00210002882100100"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233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Aptos"/>
              </a:rPr>
              <a:t>After:     "iban": "[REDACTED: IBAN]"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0050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8390"/>
                </a:solidFill>
                <a:latin typeface="Aptos"/>
              </a:rPr>
              <a:t>Outbound
masking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5787B"/>
                </a:solidFill>
                <a:latin typeface="Aptos"/>
              </a:rPr>
              <a:t>Outbound actions: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Two Scanners Work in Tandem — No External APIs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87B"/>
                </a:solidFill>
                <a:latin typeface="Aptos"/>
              </a:rPr>
              <a:t>Fully self-hosted — no third-party AI safety services that can block or degrade your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547872" cy="438912"/>
          </a:xfrm>
          <a:prstGeom prst="round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RegexScanner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64792"/>
            <a:ext cx="3547872" cy="33101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3328415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Pattern-based detection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Runs in-process (Node.js, &lt;1 ms)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No network calls or dependencies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Detects: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US SSN (123-45-6789)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Credit cards (Visa, MC, Amex)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IBAN codes (US64SVBK...)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Email addresses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Phone numbers (with separators)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Prompt injection phrases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Also flags injection categories: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ignore_previous_instructions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jailbreak / role-play 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25880"/>
            <a:ext cx="3547872" cy="438912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41732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PresidioScanner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764792"/>
            <a:ext cx="3547872" cy="33101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328415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Entity recognition (NER-ready)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Local Python HTTP server (port 5001)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No Docker, no cloud APIs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Currently detects (regex engine):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US SSN, credit cards, IBAN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Email, phone, IP address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UK NHS number, US passport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US bank routing numbers (9-digit)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Dates of birth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Extensible to spaCy NER when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Python 3.11/3.12 available: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PERSON, ORG, LOCATION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547872" cy="438912"/>
          </a:xfrm>
          <a:prstGeom prst="round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1732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ActionEngine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64792"/>
            <a:ext cx="3547872" cy="3310127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874519"/>
            <a:ext cx="3328415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Priority-ordered rule evaluation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Rules configured per Virtual Server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Processes all scanner results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Four possible actions: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BLOCK — reject with 403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MASK — redact matched spans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WARN — pass through + log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· ALLOW — no action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Deduplicates overlapping matches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(e.g. IBAN detected by both</a:t>
            </a:r>
          </a:p>
          <a:p>
            <a:r>
              <a:rPr sz="1000" b="0">
                <a:solidFill>
                  <a:srgbClr val="D0D0D0"/>
                </a:solidFill>
                <a:latin typeface="Aptos"/>
              </a:rPr>
              <a:t>scanners — applied only once)</a:t>
            </a:r>
          </a:p>
          <a:p>
            <a:pPr>
              <a:spcBef>
                <a:spcPts val="400"/>
              </a:spcBef>
            </a:pPr>
          </a:p>
          <a:p>
            <a:r>
              <a:rPr sz="1000" b="1">
                <a:solidFill>
                  <a:srgbClr val="FFFFFF"/>
                </a:solidFill>
                <a:latin typeface="Aptos"/>
              </a:rPr>
              <a:t>Writes full audit log per 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Priority-Ordered Rules Give Security Teams Precise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87B"/>
                </a:solidFill>
                <a:latin typeface="Aptos"/>
              </a:rPr>
              <a:t>Rules evaluated in priority order — first match wins; all scanners contribute matches to the mask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132320" cy="347472"/>
          </a:xfrm>
          <a:prstGeom prst="round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Rule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3441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441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34416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27631"/>
            <a:ext cx="7132320" cy="4754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uble Bracket 10"/>
          <p:cNvSpPr/>
          <p:nvPr/>
        </p:nvSpPr>
        <p:spPr>
          <a:xfrm>
            <a:off x="530352" y="1719072"/>
            <a:ext cx="475488" cy="320040"/>
          </a:xfrm>
          <a:prstGeom prst="bracketPair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73736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73736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Block Prompt Injection Attacks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17373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7373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≥ 0.5</a:t>
            </a:r>
          </a:p>
        </p:txBody>
      </p:sp>
      <p:sp>
        <p:nvSpPr>
          <p:cNvPr id="16" name="Double Bracket 15"/>
          <p:cNvSpPr/>
          <p:nvPr/>
        </p:nvSpPr>
        <p:spPr>
          <a:xfrm>
            <a:off x="5760720" y="1719072"/>
            <a:ext cx="822960" cy="320040"/>
          </a:xfrm>
          <a:prstGeom prst="bracketPair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737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130552"/>
            <a:ext cx="7132320" cy="47548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uble Bracket 18"/>
          <p:cNvSpPr/>
          <p:nvPr/>
        </p:nvSpPr>
        <p:spPr>
          <a:xfrm>
            <a:off x="530352" y="2221992"/>
            <a:ext cx="475488" cy="320040"/>
          </a:xfrm>
          <a:prstGeom prst="bracketPair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24028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2402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Mask PII — SSN, Cards, IBAN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22402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regex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2402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≥ 0.7</a:t>
            </a:r>
          </a:p>
        </p:txBody>
      </p:sp>
      <p:sp>
        <p:nvSpPr>
          <p:cNvPr id="24" name="Double Bracket 23"/>
          <p:cNvSpPr/>
          <p:nvPr/>
        </p:nvSpPr>
        <p:spPr>
          <a:xfrm>
            <a:off x="5760720" y="2221992"/>
            <a:ext cx="822960" cy="320040"/>
          </a:xfrm>
          <a:prstGeom prst="bracketPair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240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633472"/>
            <a:ext cx="7132320" cy="4754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uble Bracket 26"/>
          <p:cNvSpPr/>
          <p:nvPr/>
        </p:nvSpPr>
        <p:spPr>
          <a:xfrm>
            <a:off x="530352" y="2724912"/>
            <a:ext cx="475488" cy="320040"/>
          </a:xfrm>
          <a:prstGeom prst="bracketPair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74320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7432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Mask Named Entities (Presidio)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27432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presidio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27432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≥ 0.6</a:t>
            </a:r>
          </a:p>
        </p:txBody>
      </p:sp>
      <p:sp>
        <p:nvSpPr>
          <p:cNvPr id="32" name="Double Bracket 31"/>
          <p:cNvSpPr/>
          <p:nvPr/>
        </p:nvSpPr>
        <p:spPr>
          <a:xfrm>
            <a:off x="5760720" y="2724912"/>
            <a:ext cx="822960" cy="320040"/>
          </a:xfrm>
          <a:prstGeom prst="bracketPair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7432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MASK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136391"/>
            <a:ext cx="7132320" cy="47548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uble Bracket 34"/>
          <p:cNvSpPr/>
          <p:nvPr/>
        </p:nvSpPr>
        <p:spPr>
          <a:xfrm>
            <a:off x="530352" y="3227832"/>
            <a:ext cx="475488" cy="320040"/>
          </a:xfrm>
          <a:prstGeom prst="bracketPair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24612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3246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Audit Low-Confidence Flags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8" y="32461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32461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0D0"/>
                </a:solidFill>
                <a:latin typeface="Aptos"/>
              </a:rPr>
              <a:t>≥ 0.3</a:t>
            </a:r>
          </a:p>
        </p:txBody>
      </p:sp>
      <p:sp>
        <p:nvSpPr>
          <p:cNvPr id="40" name="Double Bracket 39"/>
          <p:cNvSpPr/>
          <p:nvPr/>
        </p:nvSpPr>
        <p:spPr>
          <a:xfrm>
            <a:off x="5760720" y="3227832"/>
            <a:ext cx="822960" cy="320040"/>
          </a:xfrm>
          <a:prstGeom prst="bracketPair">
            <a:avLst/>
          </a:prstGeom>
          <a:solidFill>
            <a:srgbClr val="757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2461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WARN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1280160"/>
            <a:ext cx="3822191" cy="384048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19288" y="1362456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Live Demo: SSN Masking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60" y="1664207"/>
            <a:ext cx="3822191" cy="4005072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1828800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5787B"/>
                </a:solidFill>
                <a:latin typeface="Aptos"/>
              </a:rPr>
              <a:t>User input: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057400"/>
            <a:ext cx="3547872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2121408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"My SSN is 123-45-6789"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74936" y="2670048"/>
            <a:ext cx="91440" cy="27432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30358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Aptos"/>
              </a:rPr>
              <a:t>Warden intercepts — RegexScanner detects SSN: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264408"/>
            <a:ext cx="3547872" cy="411480"/>
          </a:xfrm>
          <a:prstGeom prst="round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33756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BC25"/>
                </a:solidFill>
                <a:latin typeface="Aptos"/>
              </a:rPr>
              <a:t>type: SSN  |  score: 0.85  |  rule: MASK (≥0.7)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74936" y="3767328"/>
            <a:ext cx="91440" cy="274320"/>
          </a:xfrm>
          <a:prstGeom prst="round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4133087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5787B"/>
                </a:solidFill>
                <a:latin typeface="Aptos"/>
              </a:rPr>
              <a:t>Masked message sent to LLM: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4361688"/>
            <a:ext cx="3547872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425696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Aptos"/>
              </a:rPr>
              <a:t>"My SSN is [REDACTED: SSN]"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4983479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8390"/>
                </a:solidFill>
                <a:latin typeface="Aptos"/>
              </a:rPr>
              <a:t>🛡 Warden: Sensitive data detected and
    masked before processing.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559552"/>
            <a:ext cx="7132320" cy="475488"/>
          </a:xfrm>
          <a:prstGeom prst="round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6509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Rules are configured per Virtual Server — zero code changes needed to add or tighten PII policies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1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schemas.microsoft.com/office/2006/documentManagement/types"/>
    <ds:schemaRef ds:uri="8f1e2369-70da-40d7-b978-99d0855b91b8"/>
    <ds:schemaRef ds:uri="8ee28f6f-733e-446a-845c-015b8614e1f7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1744</Words>
  <Application>Microsoft Office PowerPoint</Application>
  <PresentationFormat>Widescreen</PresentationFormat>
  <Paragraphs>160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Open Sans</vt:lpstr>
      <vt:lpstr>Verdana</vt:lpstr>
      <vt:lpstr>Deloitte_Brand_Theme</vt:lpstr>
      <vt:lpstr>think-cell Slide</vt:lpstr>
      <vt:lpstr>Securing the Agentic Enterprise</vt:lpstr>
      <vt:lpstr>PowerPoint Presentation</vt:lpstr>
      <vt:lpstr>MCP Without Identity Controls Creates Systemic Risk</vt:lpstr>
      <vt:lpstr>Introducing Warden</vt:lpstr>
      <vt:lpstr>PowerPoint Presentation</vt:lpstr>
      <vt:lpstr>Step 1 — Registering an MCP Server with Warden</vt:lpstr>
      <vt:lpstr>Warden Is the Trust Boundary — Nothing Bypasses It</vt:lpstr>
      <vt:lpstr>RFC 8693 On-Behalf-Of: User Identity Preserved Across Every Hop</vt:lpstr>
      <vt:lpstr>Deny-by-Default: The Cedar-Style Policy Engine</vt:lpstr>
      <vt:lpstr>The Complete Picture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2020-04-09T19:50:51Z</dcterms:created>
  <dcterms:modified xsi:type="dcterms:W3CDTF">2026-10-23T10:30:22Z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</Properties>
</file>