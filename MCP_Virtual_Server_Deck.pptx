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410" r:id="rId4"/>
  </p:sldMasterIdLst>
  <p:notesMasterIdLst>
    <p:notesMasterId r:id="rId71"/>
  </p:notesMasterIdLst>
  <p:handoutMasterIdLst>
    <p:handoutMasterId r:id="rId72"/>
  </p:handout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Lst>
  <p:sldSz cx="12192000" cy="6858000"/>
  <p:notesSz cx="7315200" cy="9601200"/>
  <p:custDataLst>
    <p:tags r:id="rId7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s" id="{BAC1763D-52FA-4D99-B74A-09978868D1DF}">
          <p14:sldIdLst>
            <p14:sldId id="478"/>
            <p14:sldId id="1816"/>
            <p14:sldId id="1838"/>
            <p14:sldId id="1840"/>
            <p14:sldId id="1841"/>
            <p14:sldId id="1842"/>
            <p14:sldId id="1826"/>
            <p14:sldId id="1839"/>
            <p14:sldId id="1817"/>
            <p14:sldId id="1828"/>
            <p14:sldId id="1814"/>
            <p14:sldId id="1833"/>
            <p14:sldId id="1823"/>
            <p14:sldId id="1830"/>
            <p14:sldId id="1815"/>
            <p14:sldId id="1843"/>
            <p14:sldId id="1813"/>
            <p14:sldId id="1834"/>
          </p14:sldIdLst>
        </p14:section>
        <p14:section name="Brand basics" id="{8EE32D32-E91A-427D-B680-3FF11AABE0B8}">
          <p14:sldIdLst>
            <p14:sldId id="1808"/>
            <p14:sldId id="1798"/>
            <p14:sldId id="1809"/>
            <p14:sldId id="1799"/>
            <p14:sldId id="2147483247"/>
            <p14:sldId id="1812"/>
          </p14:sldIdLst>
        </p14:section>
        <p14:section name="Content slides" id="{49CC7682-57B2-4455-BD9B-709563297FEE}">
          <p14:sldIdLst>
            <p14:sldId id="342"/>
            <p14:sldId id="2147483249"/>
            <p14:sldId id="2147483250"/>
            <p14:sldId id="2147483251"/>
            <p14:sldId id="1824"/>
            <p14:sldId id="1835"/>
            <p14:sldId id="471"/>
            <p14:sldId id="1821"/>
            <p14:sldId id="1836"/>
            <p14:sldId id="469"/>
            <p14:sldId id="1837"/>
            <p14:sldId id="470"/>
            <p14:sldId id="472"/>
            <p14:sldId id="1811"/>
            <p14:sldId id="451"/>
            <p14:sldId id="453"/>
            <p14:sldId id="454"/>
            <p14:sldId id="455"/>
            <p14:sldId id="457"/>
            <p14:sldId id="458"/>
            <p14:sldId id="459"/>
            <p14:sldId id="460"/>
            <p14:sldId id="461"/>
            <p14:sldId id="463"/>
            <p14:sldId id="464"/>
            <p14:sldId id="366"/>
            <p14:sldId id="367"/>
            <p14:sldId id="465"/>
            <p14:sldId id="466"/>
            <p14:sldId id="467"/>
            <p14:sldId id="468"/>
            <p14:sldId id="374"/>
            <p14:sldId id="375"/>
            <p14:sldId id="376"/>
            <p14:sldId id="377"/>
            <p14:sldId id="474"/>
            <p14:sldId id="378"/>
            <p14:sldId id="379"/>
            <p14:sldId id="380"/>
            <p14:sldId id="384"/>
            <p14:sldId id="385"/>
            <p14:sldId id="386"/>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F6E4"/>
    <a:srgbClr val="F2F5E3"/>
    <a:srgbClr val="63666A"/>
    <a:srgbClr val="75787B"/>
    <a:srgbClr val="97999B"/>
    <a:srgbClr val="A7A8AA"/>
    <a:srgbClr val="BBBCBC"/>
    <a:srgbClr val="D0D0CE"/>
    <a:srgbClr val="007CB0"/>
    <a:srgbClr val="041E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58" autoAdjust="0"/>
    <p:restoredTop sz="92603" autoAdjust="0"/>
  </p:normalViewPr>
  <p:slideViewPr>
    <p:cSldViewPr snapToGrid="0" showGuides="1">
      <p:cViewPr varScale="1">
        <p:scale>
          <a:sx n="113" d="100"/>
          <a:sy n="113" d="100"/>
        </p:scale>
        <p:origin x="424" y="176"/>
      </p:cViewPr>
      <p:guideLst/>
    </p:cSldViewPr>
  </p:slideViewPr>
  <p:outlineViewPr>
    <p:cViewPr>
      <p:scale>
        <a:sx n="33" d="100"/>
        <a:sy n="33" d="100"/>
      </p:scale>
      <p:origin x="0" y="-59190"/>
    </p:cViewPr>
  </p:outlineViewPr>
  <p:notesTextViewPr>
    <p:cViewPr>
      <p:scale>
        <a:sx n="100" d="100"/>
        <a:sy n="100" d="100"/>
      </p:scale>
      <p:origin x="0" y="0"/>
    </p:cViewPr>
  </p:notesTextViewPr>
  <p:sorterViewPr>
    <p:cViewPr>
      <p:scale>
        <a:sx n="81" d="100"/>
        <a:sy n="81" d="100"/>
      </p:scale>
      <p:origin x="0" y="0"/>
    </p:cViewPr>
  </p:sorterViewPr>
  <p:notesViewPr>
    <p:cSldViewPr snapToGrid="0" showGuides="1">
      <p:cViewPr varScale="1">
        <p:scale>
          <a:sx n="57" d="100"/>
          <a:sy n="57" d="100"/>
        </p:scale>
        <p:origin x="1992" y="9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71" Type="http://schemas.openxmlformats.org/officeDocument/2006/relationships/notesMaster" Target="notesMasters/notesMaster1.xml"/><Relationship Id="rId72" Type="http://schemas.openxmlformats.org/officeDocument/2006/relationships/handoutMaster" Target="handoutMasters/handoutMaster1.xml"/><Relationship Id="rId73" Type="http://schemas.openxmlformats.org/officeDocument/2006/relationships/tags" Target="tags/tag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 y="1"/>
            <a:ext cx="3170138" cy="479539"/>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4143427" y="1"/>
            <a:ext cx="3170138" cy="479539"/>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2/27/26</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4" y="9120173"/>
            <a:ext cx="3170138" cy="479539"/>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4143427" y="9120173"/>
            <a:ext cx="3170138" cy="479539"/>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143589" y="1"/>
            <a:ext cx="3169920" cy="480060"/>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2/27/26</a:t>
            </a:fld>
            <a:endParaRPr lang="en-US" dirty="0"/>
          </a:p>
        </p:txBody>
      </p:sp>
      <p:sp>
        <p:nvSpPr>
          <p:cNvPr id="4" name="Slide Image Placeholder 3"/>
          <p:cNvSpPr>
            <a:spLocks noGrp="1" noRot="1" noChangeAspect="1"/>
          </p:cNvSpPr>
          <p:nvPr>
            <p:ph type="sldImg" idx="2"/>
          </p:nvPr>
        </p:nvSpPr>
        <p:spPr>
          <a:xfrm>
            <a:off x="458788" y="720725"/>
            <a:ext cx="6397625" cy="3598863"/>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143589" y="9119475"/>
            <a:ext cx="3169920" cy="480060"/>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219170" rtl="0" eaLnBrk="1" latinLnBrk="0" hangingPunct="1">
      <a:defRPr sz="1600" kern="1200">
        <a:solidFill>
          <a:schemeClr val="tx1"/>
        </a:solidFill>
        <a:latin typeface="Arial" panose="020B0604020202020204" pitchFamily="34" charset="0"/>
        <a:ea typeface="+mn-ea"/>
        <a:cs typeface="+mn-cs"/>
      </a:defRPr>
    </a:lvl1pPr>
    <a:lvl2pPr marL="609585" algn="l" defTabSz="1219170" rtl="0" eaLnBrk="1" latinLnBrk="0" hangingPunct="1">
      <a:defRPr sz="1600" kern="1200">
        <a:solidFill>
          <a:schemeClr val="tx1"/>
        </a:solidFill>
        <a:latin typeface="Arial" panose="020B0604020202020204" pitchFamily="34" charset="0"/>
        <a:ea typeface="+mn-ea"/>
        <a:cs typeface="+mn-cs"/>
      </a:defRPr>
    </a:lvl2pPr>
    <a:lvl3pPr marL="1219170" algn="l" defTabSz="1219170" rtl="0" eaLnBrk="1" latinLnBrk="0" hangingPunct="1">
      <a:defRPr sz="1600" kern="1200">
        <a:solidFill>
          <a:schemeClr val="tx1"/>
        </a:solidFill>
        <a:latin typeface="Arial" panose="020B0604020202020204" pitchFamily="34" charset="0"/>
        <a:ea typeface="+mn-ea"/>
        <a:cs typeface="+mn-cs"/>
      </a:defRPr>
    </a:lvl3pPr>
    <a:lvl4pPr marL="1828754" algn="l" defTabSz="1219170" rtl="0" eaLnBrk="1" latinLnBrk="0" hangingPunct="1">
      <a:defRPr sz="1600" kern="1200">
        <a:solidFill>
          <a:schemeClr val="tx1"/>
        </a:solidFill>
        <a:latin typeface="Arial" panose="020B0604020202020204" pitchFamily="34" charset="0"/>
        <a:ea typeface="+mn-ea"/>
        <a:cs typeface="+mn-cs"/>
      </a:defRPr>
    </a:lvl4pPr>
    <a:lvl5pPr marL="2438339" algn="l" defTabSz="1219170" rtl="0" eaLnBrk="1" latinLnBrk="0" hangingPunct="1">
      <a:defRPr sz="1600" kern="1200">
        <a:solidFill>
          <a:schemeClr val="tx1"/>
        </a:solidFill>
        <a:latin typeface="Arial" panose="020B0604020202020204" pitchFamily="34"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7.png"/><Relationship Id="rId4" Type="http://schemas.openxmlformats.org/officeDocument/2006/relationships/oleObject" Target="../embeddings/oleObject2.bin"/><Relationship Id="rId5"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9.png"/><Relationship Id="rId4" Type="http://schemas.openxmlformats.org/officeDocument/2006/relationships/oleObject" Target="../embeddings/oleObject2.bin"/><Relationship Id="rId5" Type="http://schemas.openxmlformats.org/officeDocument/2006/relationships/image" Target="../media/image8.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8.emf"/></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8.emf"/></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8.emf"/></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6.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7.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8.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39.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0.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3.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4.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5.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6.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7.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8.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6.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8.emf"/></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White with tagline logo lockup">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7FC5E484-EB26-0B50-B87A-799C320E830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3">
            <a:extLst>
              <a:ext uri="{FF2B5EF4-FFF2-40B4-BE49-F238E27FC236}">
                <a16:creationId xmlns:a16="http://schemas.microsoft.com/office/drawing/2014/main" id="{B6970A4B-B432-0F69-C312-D57C3DF06CD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313172048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A9C623ED-9A31-E94B-385F-DFBB34F5916A}"/>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2">
            <a:extLst>
              <a:ext uri="{FF2B5EF4-FFF2-40B4-BE49-F238E27FC236}">
                <a16:creationId xmlns:a16="http://schemas.microsoft.com/office/drawing/2014/main" id="{856FA620-B23E-0D62-CFAF-C7B1EE2DF1E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203141457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Pale Green with tagline logo lockup">
    <p:bg bwMode="gray">
      <p:bgPr>
        <a:solidFill>
          <a:schemeClr val="accent6"/>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9A09F874-9939-7788-F7E8-1E902B5632A8}"/>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4BC315A3-99EF-FC55-DE24-58D79C1DD21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38789876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 Pale Green">
    <p:bg bwMode="gray">
      <p:bgPr>
        <a:solidFill>
          <a:schemeClr val="accent6"/>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6" name="Picture 5">
            <a:extLst>
              <a:ext uri="{FF2B5EF4-FFF2-40B4-BE49-F238E27FC236}">
                <a16:creationId xmlns:a16="http://schemas.microsoft.com/office/drawing/2014/main" id="{D8F5BA9B-7574-E325-E1B5-3C428C7E4C1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27263823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with tagline logo lockup">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3">
            <a:extLst>
              <a:ext uri="{FF2B5EF4-FFF2-40B4-BE49-F238E27FC236}">
                <a16:creationId xmlns:a16="http://schemas.microsoft.com/office/drawing/2014/main" id="{25E4CF2D-5153-8731-E935-35A75505133D}"/>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2692" y="-5031"/>
            <a:ext cx="2779773" cy="1307351"/>
          </a:xfrm>
          <a:prstGeom prst="rect">
            <a:avLst/>
          </a:prstGeom>
        </p:spPr>
      </p:pic>
    </p:spTree>
    <p:extLst>
      <p:ext uri="{BB962C8B-B14F-4D97-AF65-F5344CB8AC3E}">
        <p14:creationId xmlns:p14="http://schemas.microsoft.com/office/powerpoint/2010/main" val="1874202484"/>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Title slide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81976BE-EAA8-F89C-D5B3-ECA4949B5BC4}"/>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5" name="Picture 4">
            <a:extLst>
              <a:ext uri="{FF2B5EF4-FFF2-40B4-BE49-F238E27FC236}">
                <a16:creationId xmlns:a16="http://schemas.microsoft.com/office/drawing/2014/main" id="{4A99EDB7-3AF4-61F2-2C8B-4480E13D1A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4038310312"/>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slide - Black with tagline logo lockup">
    <p:bg bwMode="gray">
      <p:bgPr>
        <a:solidFill>
          <a:schemeClr val="tx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BD417F91-0FD9-83FB-569A-B960E93D5A0F}"/>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09D97FD6-A665-B2C8-96D2-2FEF2679AAB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3951042251"/>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FB2FFE14-03CA-6135-58A2-5C311D365127}"/>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F4810F31-D882-A06D-7681-1B913A76ECE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1939478856"/>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Title slide - Dark Green with tagline logo lockup">
    <p:bg bwMode="gray">
      <p:bgPr>
        <a:solidFill>
          <a:schemeClr val="accent4"/>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3F8A2FFF-A4B2-D935-C7DC-1DB5EDE4A71C}"/>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4" name="Picture 3">
            <a:extLst>
              <a:ext uri="{FF2B5EF4-FFF2-40B4-BE49-F238E27FC236}">
                <a16:creationId xmlns:a16="http://schemas.microsoft.com/office/drawing/2014/main" id="{9B590BD8-2D84-8179-A640-57E37904E6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2105543470"/>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 Dark Green">
    <p:bg bwMode="gray">
      <p:bgPr>
        <a:solidFill>
          <a:schemeClr val="accent4"/>
        </a:soli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2" name="Picture Placeholder 8">
            <a:extLst>
              <a:ext uri="{FF2B5EF4-FFF2-40B4-BE49-F238E27FC236}">
                <a16:creationId xmlns:a16="http://schemas.microsoft.com/office/drawing/2014/main" id="{5BCB8175-C467-0B04-B004-47252C8E68C3}"/>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5" name="Picture 4">
            <a:extLst>
              <a:ext uri="{FF2B5EF4-FFF2-40B4-BE49-F238E27FC236}">
                <a16:creationId xmlns:a16="http://schemas.microsoft.com/office/drawing/2014/main" id="{050BF294-5C31-F69F-426C-BF45033D4DF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326880063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2" name="Picture 1">
            <a:extLst>
              <a:ext uri="{FF2B5EF4-FFF2-40B4-BE49-F238E27FC236}">
                <a16:creationId xmlns:a16="http://schemas.microsoft.com/office/drawing/2014/main" id="{9913732D-80FD-BC4D-437C-614EF3BEBF7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3617" y="-5031"/>
            <a:ext cx="2777922" cy="1307351"/>
          </a:xfrm>
          <a:prstGeom prst="rect">
            <a:avLst/>
          </a:prstGeom>
        </p:spPr>
      </p:pic>
    </p:spTree>
    <p:extLst>
      <p:ext uri="{BB962C8B-B14F-4D97-AF65-F5344CB8AC3E}">
        <p14:creationId xmlns:p14="http://schemas.microsoft.com/office/powerpoint/2010/main" val="3948775618"/>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 Dark-Bright gradient">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6"/>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accent6"/>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5959257" y="698373"/>
            <a:ext cx="5544000" cy="5544000"/>
          </a:xfrm>
          <a:prstGeom prst="rect">
            <a:avLst/>
          </a:prstGeom>
        </p:spPr>
        <p:txBody>
          <a:bodyPr/>
          <a:lstStyle/>
          <a:p>
            <a:r>
              <a:rPr lang="en-US" noProof="0"/>
              <a:t>Click icon to add picture</a:t>
            </a:r>
            <a:endParaRPr lang="en-US" noProof="0" dirty="0"/>
          </a:p>
        </p:txBody>
      </p:sp>
      <p:pic>
        <p:nvPicPr>
          <p:cNvPr id="3" name="Picture 2">
            <a:extLst>
              <a:ext uri="{FF2B5EF4-FFF2-40B4-BE49-F238E27FC236}">
                <a16:creationId xmlns:a16="http://schemas.microsoft.com/office/drawing/2014/main" id="{31CF98FE-74F2-7A89-9D1B-2E3424F331A8}"/>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2775513323"/>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 Full bleed image">
    <p:bg bwMode="gray">
      <p:bgPr>
        <a:solidFill>
          <a:schemeClr val="tx1"/>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dirty="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secondary text</a:t>
            </a:r>
          </a:p>
        </p:txBody>
      </p:sp>
    </p:spTree>
    <p:extLst>
      <p:ext uri="{BB962C8B-B14F-4D97-AF65-F5344CB8AC3E}">
        <p14:creationId xmlns:p14="http://schemas.microsoft.com/office/powerpoint/2010/main" val="2125570879"/>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ivider - Glow">
    <p:bg bwMode="gray">
      <p:bgPr>
        <a:solidFill>
          <a:schemeClr val="tx1"/>
        </a:solidFill>
        <a:effectLst/>
      </p:bgPr>
    </p:bg>
    <p:spTree>
      <p:nvGrpSpPr>
        <p:cNvPr id="1" name=""/>
        <p:cNvGrpSpPr/>
        <p:nvPr/>
      </p:nvGrpSpPr>
      <p:grpSpPr>
        <a:xfrm>
          <a:off x="0" y="0"/>
          <a:ext cx="0" cy="0"/>
          <a:chOff x="0" y="0"/>
          <a:chExt cx="0" cy="0"/>
        </a:xfrm>
      </p:grpSpPr>
      <p:pic>
        <p:nvPicPr>
          <p:cNvPr id="2" name="Picture 1" descr="A green circle on a green background&#10;&#10;AI-generated content may be incorrect.">
            <a:extLst>
              <a:ext uri="{FF2B5EF4-FFF2-40B4-BE49-F238E27FC236}">
                <a16:creationId xmlns:a16="http://schemas.microsoft.com/office/drawing/2014/main" id="{0612E835-F4A9-E28C-C385-D7BF39346F52}"/>
              </a:ext>
            </a:extLst>
          </p:cNvPr>
          <p:cNvPicPr>
            <a:picLocks noChangeAspect="1"/>
          </p:cNvPicPr>
          <p:nvPr userDrawn="1"/>
        </p:nvPicPr>
        <p:blipFill>
          <a:blip r:embed="rId3"/>
          <a:stretch>
            <a:fillRect/>
          </a:stretch>
        </p:blipFill>
        <p:spPr>
          <a:xfrm>
            <a:off x="762" y="428"/>
            <a:ext cx="12190476" cy="6857143"/>
          </a:xfrm>
          <a:prstGeom prst="rect">
            <a:avLst/>
          </a:prstGeom>
        </p:spPr>
      </p:pic>
      <p:pic>
        <p:nvPicPr>
          <p:cNvPr id="4" name="Picture 3" descr="A green circle on a green background&#10;&#10;AI-generated content may be incorrect.">
            <a:extLst>
              <a:ext uri="{FF2B5EF4-FFF2-40B4-BE49-F238E27FC236}">
                <a16:creationId xmlns:a16="http://schemas.microsoft.com/office/drawing/2014/main" id="{45E3228C-6488-D962-AD57-9F2A5C5896EE}"/>
              </a:ext>
            </a:extLst>
          </p:cNvPr>
          <p:cNvPicPr>
            <a:picLocks noChangeAspect="1"/>
          </p:cNvPicPr>
          <p:nvPr/>
        </p:nvPicPr>
        <p:blipFill>
          <a:blip r:embed="rId3"/>
          <a:stretch>
            <a:fillRect/>
          </a:stretch>
        </p:blipFill>
        <p:spPr>
          <a:xfrm>
            <a:off x="762" y="428"/>
            <a:ext cx="12190476" cy="6857143"/>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CaseCode">
            <a:extLst>
              <a:ext uri="{FF2B5EF4-FFF2-40B4-BE49-F238E27FC236}">
                <a16:creationId xmlns:a16="http://schemas.microsoft.com/office/drawing/2014/main" id="{731E6BB5-C9D1-E35B-D6D9-245F1063E86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B5B05F3-7BE5-74BC-C267-D563E5B2A301}"/>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0182C802-4131-8DA8-7683-E68E2E309BA0}"/>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9" name="Text Placeholder 2">
            <a:extLst>
              <a:ext uri="{FF2B5EF4-FFF2-40B4-BE49-F238E27FC236}">
                <a16:creationId xmlns:a16="http://schemas.microsoft.com/office/drawing/2014/main" id="{32671CB7-EA0F-58E4-4174-1D1922A3AB24}"/>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text</a:t>
            </a:r>
          </a:p>
        </p:txBody>
      </p:sp>
      <p:sp>
        <p:nvSpPr>
          <p:cNvPr id="3" name="CaseCode">
            <a:extLst>
              <a:ext uri="{FF2B5EF4-FFF2-40B4-BE49-F238E27FC236}">
                <a16:creationId xmlns:a16="http://schemas.microsoft.com/office/drawing/2014/main" id="{0A4EC9DF-8A5A-81C7-A2F0-1416E458E773}"/>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Copyright">
            <a:extLst>
              <a:ext uri="{FF2B5EF4-FFF2-40B4-BE49-F238E27FC236}">
                <a16:creationId xmlns:a16="http://schemas.microsoft.com/office/drawing/2014/main" id="{76A3C83B-1E93-24DD-B4CF-4F673E59352B}"/>
              </a:ext>
            </a:extLst>
          </p:cNvPr>
          <p:cNvSpPr txBox="1"/>
          <p:nvPr userDrawn="1"/>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1" name="TextBox 10">
            <a:extLst>
              <a:ext uri="{FF2B5EF4-FFF2-40B4-BE49-F238E27FC236}">
                <a16:creationId xmlns:a16="http://schemas.microsoft.com/office/drawing/2014/main" id="{8A4CDE2B-37F4-6423-B520-C4665B2B512F}"/>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576142479"/>
      </p:ext>
    </p:extLst>
  </p:cSld>
  <p:clrMapOvr>
    <a:masterClrMapping/>
  </p:clrMapOvr>
  <p:transition>
    <p:fade/>
  </p:transition>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ivider - United">
    <p:bg bwMode="gray">
      <p:bgPr>
        <a:solidFill>
          <a:schemeClr val="tx1"/>
        </a:solidFill>
        <a:effectLst/>
      </p:bgPr>
    </p:bg>
    <p:spTree>
      <p:nvGrpSpPr>
        <p:cNvPr id="1" name=""/>
        <p:cNvGrpSpPr/>
        <p:nvPr/>
      </p:nvGrpSpPr>
      <p:grpSpPr>
        <a:xfrm>
          <a:off x="0" y="0"/>
          <a:ext cx="0" cy="0"/>
          <a:chOff x="0" y="0"/>
          <a:chExt cx="0" cy="0"/>
        </a:xfrm>
      </p:grpSpPr>
      <p:pic>
        <p:nvPicPr>
          <p:cNvPr id="2" name="Picture 1" descr="A circle of small green and blue dots&#10;&#10;Description automatically generated">
            <a:extLst>
              <a:ext uri="{FF2B5EF4-FFF2-40B4-BE49-F238E27FC236}">
                <a16:creationId xmlns:a16="http://schemas.microsoft.com/office/drawing/2014/main" id="{56245C15-57A3-6DF3-1754-20E77EB5CAD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1095" t="20842" r="-653" b="10449"/>
          <a:stretch>
            <a:fillRect/>
          </a:stretch>
        </p:blipFill>
        <p:spPr>
          <a:xfrm>
            <a:off x="0" y="0"/>
            <a:ext cx="12192000" cy="6858000"/>
          </a:xfrm>
          <a:prstGeom prst="rect">
            <a:avLst/>
          </a:prstGeom>
        </p:spPr>
      </p:pic>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5" progId="TCLayout.ActiveDocument.1">
                  <p:embed/>
                </p:oleObj>
              </mc:Choice>
              <mc:Fallback>
                <p:oleObj name="think-cell Slide" r:id="rId4"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2" name="Text Placeholder 2">
            <a:extLst>
              <a:ext uri="{FF2B5EF4-FFF2-40B4-BE49-F238E27FC236}">
                <a16:creationId xmlns:a16="http://schemas.microsoft.com/office/drawing/2014/main" id="{9D2CC364-3A56-4B32-F356-4C27AC2B9CA1}"/>
              </a:ext>
            </a:extLst>
          </p:cNvPr>
          <p:cNvSpPr>
            <a:spLocks noGrp="1"/>
          </p:cNvSpPr>
          <p:nvPr>
            <p:ph type="body" idx="1" hasCustomPrompt="1"/>
          </p:nvPr>
        </p:nvSpPr>
        <p:spPr bwMode="gray">
          <a:xfrm>
            <a:off x="0" y="3098800"/>
            <a:ext cx="12192000" cy="660400"/>
          </a:xfrm>
        </p:spPr>
        <p:txBody>
          <a:bodyPr lIns="0" tIns="0" rIns="0" bIns="0" anchor="ctr">
            <a:noAutofit/>
          </a:bodyPr>
          <a:lstStyle>
            <a:lvl1pPr marL="0" indent="0" algn="ctr">
              <a:lnSpc>
                <a:spcPct val="95000"/>
              </a:lnSpc>
              <a:spcAft>
                <a:spcPts val="0"/>
              </a:spcAft>
              <a:buNone/>
              <a:defRPr sz="3600" b="1">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dirty="0"/>
              <a:t>Click to add text</a:t>
            </a:r>
          </a:p>
        </p:txBody>
      </p:sp>
      <p:pic>
        <p:nvPicPr>
          <p:cNvPr id="3" name="Picture 2" descr="A circle of small green and blue dots&#10;&#10;Description automatically generated">
            <a:extLst>
              <a:ext uri="{FF2B5EF4-FFF2-40B4-BE49-F238E27FC236}">
                <a16:creationId xmlns:a16="http://schemas.microsoft.com/office/drawing/2014/main" id="{BE3412DA-AF8A-F83F-A01C-B4141E94FDB2}"/>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l="11095" t="20842" r="-653" b="10449"/>
          <a:stretch>
            <a:fillRect/>
          </a:stretch>
        </p:blipFill>
        <p:spPr>
          <a:xfrm>
            <a:off x="0" y="0"/>
            <a:ext cx="12192000" cy="6858000"/>
          </a:xfrm>
          <a:prstGeom prst="rect">
            <a:avLst/>
          </a:prstGeom>
        </p:spPr>
      </p:pic>
    </p:spTree>
    <p:extLst>
      <p:ext uri="{BB962C8B-B14F-4D97-AF65-F5344CB8AC3E}">
        <p14:creationId xmlns:p14="http://schemas.microsoft.com/office/powerpoint/2010/main" val="1243493905"/>
      </p:ext>
    </p:extLst>
  </p:cSld>
  <p:clrMapOvr>
    <a:masterClrMapping/>
  </p:clrMapOvr>
  <p:transition>
    <p:fade/>
  </p:transition>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Divider - Pale Green">
    <p:bg bwMode="gray">
      <p:bgPr>
        <a:solidFill>
          <a:schemeClr val="accent6"/>
        </a:soli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67FC27F4-B029-8F10-CF8E-13A946A025B5}"/>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Presentation title</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89AEA1EB-B05E-844E-88AE-0B79DF479CCD}"/>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F797C4E0-E9D0-9FCD-AFF6-A164148A4809}"/>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27237997-F2A9-D664-587D-4BF3816A0DA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09597775"/>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Divider - Deloitte Green">
    <p:bg bwMode="gray">
      <p:bgPr>
        <a:solidFill>
          <a:schemeClr val="accent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12CD58D-2BFB-3387-A814-C06828E88CA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843714164"/>
      </p:ext>
    </p:extLst>
  </p:cSld>
  <p:clrMapOvr>
    <a:masterClrMapping/>
  </p:clrMapOvr>
  <p:transition>
    <p:fade/>
  </p:transition>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Divider - Pale-Deloitte Green gradient">
    <p:bg bwMode="gray">
      <p:bgPr>
        <a:gradFill>
          <a:gsLst>
            <a:gs pos="99000">
              <a:schemeClr val="accent1"/>
            </a:gs>
            <a:gs pos="28000">
              <a:schemeClr val="accent6"/>
            </a:gs>
          </a:gsLst>
          <a:lin ang="0" scaled="0"/>
        </a:gra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ADBA1BC3-DF0A-C7C2-54F8-FADB09EEDB7D}"/>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80879667-8E19-0A8A-570B-A31B8E1A0A23}"/>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3651E4B-6F26-F51C-0F00-AA71F4B0CCCE}"/>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26288D3C-20C4-200E-7A39-8253F3E6AD58}"/>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accent4"/>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3216262105"/>
      </p:ext>
    </p:extLst>
  </p:cSld>
  <p:clrMapOvr>
    <a:masterClrMapping/>
  </p:clrMapOvr>
  <p:transition>
    <p:fade/>
  </p:transition>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Divider - Deloitte Deep Green">
    <p:bg bwMode="gray">
      <p:bgPr>
        <a:solidFill>
          <a:schemeClr val="accent3"/>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CaseCode">
            <a:extLst>
              <a:ext uri="{FF2B5EF4-FFF2-40B4-BE49-F238E27FC236}">
                <a16:creationId xmlns:a16="http://schemas.microsoft.com/office/drawing/2014/main" id="{F684A669-26C5-90D5-704C-199677EB5DCB}"/>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Presentation title</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9" name="Copyright">
            <a:extLst>
              <a:ext uri="{FF2B5EF4-FFF2-40B4-BE49-F238E27FC236}">
                <a16:creationId xmlns:a16="http://schemas.microsoft.com/office/drawing/2014/main" id="{007BB995-EE99-3880-DCE6-C93F71A128C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561CC79A-BB5E-1920-0382-D1E9D54533B4}"/>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bg1"/>
              </a:solidFill>
              <a:latin typeface="Aptos" panose="020B0004020202020204" pitchFamily="34" charset="0"/>
              <a:cs typeface="Calibri" panose="020F0502020204030204" pitchFamily="34" charset="0"/>
            </a:endParaRPr>
          </a:p>
        </p:txBody>
      </p:sp>
      <p:sp>
        <p:nvSpPr>
          <p:cNvPr id="4" name="Title 1">
            <a:extLst>
              <a:ext uri="{FF2B5EF4-FFF2-40B4-BE49-F238E27FC236}">
                <a16:creationId xmlns:a16="http://schemas.microsoft.com/office/drawing/2014/main" id="{17582AB9-92F7-B2E5-BF9C-744E1F477FC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910415647"/>
      </p:ext>
    </p:extLst>
  </p:cSld>
  <p:clrMapOvr>
    <a:masterClrMapping/>
  </p:clrMapOvr>
  <p:transition>
    <p:fade/>
  </p:transition>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Divider - Dark-Bright gradient with tagline logo lockup">
    <p:bg bwMode="gray">
      <p:bgPr>
        <a:gradFill flip="none" rotWithShape="1">
          <a:gsLst>
            <a:gs pos="25000">
              <a:schemeClr val="accent2">
                <a:lumMod val="67000"/>
              </a:schemeClr>
            </a:gs>
            <a:gs pos="100000">
              <a:schemeClr val="accent2">
                <a:lumMod val="60000"/>
                <a:lumOff val="40000"/>
              </a:schemeClr>
            </a:gs>
          </a:gsLst>
          <a:lin ang="0" scaled="0"/>
          <a:tileRect/>
        </a:gradFill>
        <a:effectLst/>
      </p:bgPr>
    </p:bg>
    <p:spTree>
      <p:nvGrpSpPr>
        <p:cNvPr id="1" name=""/>
        <p:cNvGrpSpPr/>
        <p:nvPr/>
      </p:nvGrpSpPr>
      <p:grpSpPr>
        <a:xfrm>
          <a:off x="0" y="0"/>
          <a:ext cx="0" cy="0"/>
          <a:chOff x="0" y="0"/>
          <a:chExt cx="0" cy="0"/>
        </a:xfrm>
      </p:grpSpPr>
      <p:sp>
        <p:nvSpPr>
          <p:cNvPr id="5" name="CaseCode">
            <a:extLst>
              <a:ext uri="{FF2B5EF4-FFF2-40B4-BE49-F238E27FC236}">
                <a16:creationId xmlns:a16="http://schemas.microsoft.com/office/drawing/2014/main" id="{2FC75865-6F76-C54E-DF22-E2B4689596A8}"/>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6" name="Copyright">
            <a:extLst>
              <a:ext uri="{FF2B5EF4-FFF2-40B4-BE49-F238E27FC236}">
                <a16:creationId xmlns:a16="http://schemas.microsoft.com/office/drawing/2014/main" id="{4D8129D5-9039-E8B3-5F13-E4574BC308FD}"/>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7" name="TextBox 6">
            <a:extLst>
              <a:ext uri="{FF2B5EF4-FFF2-40B4-BE49-F238E27FC236}">
                <a16:creationId xmlns:a16="http://schemas.microsoft.com/office/drawing/2014/main" id="{A0CBBC4D-3C0B-94BF-1ABE-F74D334FD22C}"/>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
        <p:nvSpPr>
          <p:cNvPr id="8" name="Title 1">
            <a:extLst>
              <a:ext uri="{FF2B5EF4-FFF2-40B4-BE49-F238E27FC236}">
                <a16:creationId xmlns:a16="http://schemas.microsoft.com/office/drawing/2014/main" id="{2559336F-A28E-132F-AE15-43D8D49F242E}"/>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
        <p:nvSpPr>
          <p:cNvPr id="2" name="CaseCode">
            <a:extLst>
              <a:ext uri="{FF2B5EF4-FFF2-40B4-BE49-F238E27FC236}">
                <a16:creationId xmlns:a16="http://schemas.microsoft.com/office/drawing/2014/main" id="{ED522F1A-76ED-9748-3E86-16A48ACAC575}"/>
              </a:ext>
            </a:extLst>
          </p:cNvPr>
          <p:cNvSpPr txBox="1"/>
          <p:nvPr userDrawn="1"/>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tx1"/>
                </a:solidFill>
                <a:latin typeface="Aptos" panose="020B0004020202020204" pitchFamily="34" charset="0"/>
                <a:cs typeface="Calibri" panose="020F0502020204030204" pitchFamily="34" charset="0"/>
              </a:rPr>
              <a:t>Presentation title</a:t>
            </a:r>
            <a:br>
              <a:rPr lang="en-US" sz="800" noProof="0" dirty="0">
                <a:solidFill>
                  <a:schemeClr val="tx1"/>
                </a:solidFill>
                <a:latin typeface="Aptos" panose="020B0004020202020204" pitchFamily="34" charset="0"/>
                <a:cs typeface="Calibri" panose="020F0502020204030204" pitchFamily="34" charset="0"/>
              </a:rPr>
            </a:br>
            <a:r>
              <a:rPr lang="en-US" sz="800" noProof="0" dirty="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3" name="Copyright">
            <a:extLst>
              <a:ext uri="{FF2B5EF4-FFF2-40B4-BE49-F238E27FC236}">
                <a16:creationId xmlns:a16="http://schemas.microsoft.com/office/drawing/2014/main" id="{8BCC36DE-11BE-ACD5-8C25-3380E547E1BC}"/>
              </a:ext>
            </a:extLst>
          </p:cNvPr>
          <p:cNvSpPr txBox="1"/>
          <p:nvPr userDrawn="1"/>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bg1"/>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bg1"/>
                </a:solidFill>
                <a:latin typeface="Aptos" panose="020B0004020202020204" pitchFamily="34" charset="0"/>
                <a:cs typeface="Calibri" panose="020F0502020204030204" pitchFamily="34" charset="0"/>
              </a:rPr>
            </a:br>
            <a:r>
              <a:rPr lang="en-US" sz="800" noProof="0" dirty="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4" name="TextBox 3">
            <a:extLst>
              <a:ext uri="{FF2B5EF4-FFF2-40B4-BE49-F238E27FC236}">
                <a16:creationId xmlns:a16="http://schemas.microsoft.com/office/drawing/2014/main" id="{826A064D-8615-4934-CF57-1312C16D8F95}"/>
              </a:ext>
            </a:extLst>
          </p:cNvPr>
          <p:cNvSpPr txBox="1"/>
          <p:nvPr userDrawn="1"/>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471795905"/>
      </p:ext>
    </p:extLst>
  </p:cSld>
  <p:clrMapOvr>
    <a:masterClrMapping/>
  </p:clrMapOvr>
  <p:transition>
    <p:fade/>
  </p:transition>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Divider - Deloitte Accessible Teal">
    <p:bg bwMode="gray">
      <p:bgPr>
        <a:solidFill>
          <a:schemeClr val="accent5"/>
        </a:solidFill>
        <a:effectLst/>
      </p:bgPr>
    </p:bg>
    <p:spTree>
      <p:nvGrpSpPr>
        <p:cNvPr id="1" name=""/>
        <p:cNvGrpSpPr/>
        <p:nvPr/>
      </p:nvGrpSpPr>
      <p:grpSpPr>
        <a:xfrm>
          <a:off x="0" y="0"/>
          <a:ext cx="0" cy="0"/>
          <a:chOff x="0" y="0"/>
          <a:chExt cx="0" cy="0"/>
        </a:xfrm>
      </p:grpSpPr>
      <p:sp>
        <p:nvSpPr>
          <p:cNvPr id="7" name="CaseCode">
            <a:extLst>
              <a:ext uri="{FF2B5EF4-FFF2-40B4-BE49-F238E27FC236}">
                <a16:creationId xmlns:a16="http://schemas.microsoft.com/office/drawing/2014/main" id="{1F8EA9CE-A4FD-7F07-8A19-61F161FECD5F}"/>
              </a:ext>
            </a:extLst>
          </p:cNvPr>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Presentation title</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EFB2FD2C-2339-18D3-FE74-70FF8DBE712E}"/>
              </a:ext>
            </a:extLst>
          </p:cNvPr>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chemeClr val="accent4"/>
                </a:solidFill>
                <a:latin typeface="Aptos" panose="020B0004020202020204" pitchFamily="34" charset="0"/>
                <a:cs typeface="Calibri" panose="020F0502020204030204" pitchFamily="34" charset="0"/>
              </a:rPr>
              <a:t>Member firms and DTTL: Insert appropriate copyright</a:t>
            </a:r>
            <a:br>
              <a:rPr lang="en-US" sz="800" noProof="0" dirty="0">
                <a:solidFill>
                  <a:schemeClr val="accent4"/>
                </a:solidFill>
                <a:latin typeface="Aptos" panose="020B0004020202020204" pitchFamily="34" charset="0"/>
                <a:cs typeface="Calibri" panose="020F0502020204030204" pitchFamily="34" charset="0"/>
              </a:rPr>
            </a:br>
            <a:r>
              <a:rPr lang="en-US" sz="800" noProof="0" dirty="0">
                <a:solidFill>
                  <a:schemeClr val="accent4"/>
                </a:solidFill>
                <a:latin typeface="Aptos" panose="020B000402020202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752674E4-36E3-6473-BA52-EF41006ED287}"/>
              </a:ext>
            </a:extLst>
          </p:cNvPr>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accent4"/>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chemeClr val="accent4"/>
              </a:solidFill>
              <a:latin typeface="Aptos" panose="020B0004020202020204" pitchFamily="34" charset="0"/>
              <a:cs typeface="Calibri" panose="020F0502020204030204" pitchFamily="34" charset="0"/>
            </a:endParaRPr>
          </a:p>
        </p:txBody>
      </p:sp>
      <p:sp>
        <p:nvSpPr>
          <p:cNvPr id="2" name="Title 1">
            <a:extLst>
              <a:ext uri="{FF2B5EF4-FFF2-40B4-BE49-F238E27FC236}">
                <a16:creationId xmlns:a16="http://schemas.microsoft.com/office/drawing/2014/main" id="{61F4FDF0-825B-9D05-FCBA-CD50EF6CC824}"/>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476295170"/>
      </p:ext>
    </p:extLst>
  </p:cSld>
  <p:clrMapOvr>
    <a:masterClrMapping/>
  </p:clrMapOvr>
  <p:transition>
    <p:fade/>
  </p:transition>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ivider - Black">
    <p:bg bwMode="gray">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F35D1E1-7A9C-AE7F-744F-00D2D0F3439B}"/>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1070983779"/>
      </p:ext>
    </p:extLst>
  </p:cSld>
  <p:clrMapOvr>
    <a:masterClrMapping/>
  </p:clrMapOvr>
  <p:transition>
    <p:fade/>
  </p:transition>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ivider - Full-bleed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 name="Title 1">
            <a:extLst>
              <a:ext uri="{FF2B5EF4-FFF2-40B4-BE49-F238E27FC236}">
                <a16:creationId xmlns:a16="http://schemas.microsoft.com/office/drawing/2014/main" id="{AEE1843C-9C47-5853-9CCF-75A6755EA090}"/>
              </a:ext>
            </a:extLst>
          </p:cNvPr>
          <p:cNvSpPr>
            <a:spLocks noGrp="1"/>
          </p:cNvSpPr>
          <p:nvPr>
            <p:ph type="title" hasCustomPrompt="1"/>
          </p:nvPr>
        </p:nvSpPr>
        <p:spPr bwMode="gray">
          <a:xfrm>
            <a:off x="457200" y="1682496"/>
            <a:ext cx="11274552" cy="1592403"/>
          </a:xfrm>
          <a:prstGeom prst="rect">
            <a:avLst/>
          </a:prstGeom>
        </p:spPr>
        <p:txBody>
          <a:bodyPr vert="horz" anchor="t"/>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pPr lvl="0"/>
            <a:r>
              <a:rPr lang="en-US" noProof="0" dirty="0"/>
              <a:t>Click to add text</a:t>
            </a:r>
          </a:p>
        </p:txBody>
      </p:sp>
    </p:spTree>
    <p:extLst>
      <p:ext uri="{BB962C8B-B14F-4D97-AF65-F5344CB8AC3E}">
        <p14:creationId xmlns:p14="http://schemas.microsoft.com/office/powerpoint/2010/main" val="2374225893"/>
      </p:ext>
    </p:extLst>
  </p:cSld>
  <p:clrMapOvr>
    <a:masterClrMapping/>
  </p:clrMapOvr>
  <p:transition>
    <p:fade/>
  </p:transition>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711191353"/>
      </p:ext>
    </p:extLst>
  </p:cSld>
  <p:clrMapOvr>
    <a:masterClrMapping/>
  </p:clrMapOvr>
  <p:transition>
    <p:fade/>
  </p:transition>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1303670467"/>
      </p:ext>
    </p:extLst>
  </p:cSld>
  <p:clrMapOvr>
    <a:masterClrMapping/>
  </p:clrMapOvr>
  <p:transition>
    <p:fade/>
  </p:transition>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699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817824798"/>
      </p:ext>
    </p:extLst>
  </p:cSld>
  <p:clrMapOvr>
    <a:masterClrMapping/>
  </p:clrMapOvr>
  <p:transition>
    <p:fade/>
  </p:transition>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2112974177"/>
      </p:ext>
    </p:extLst>
  </p:cSld>
  <p:clrMapOvr>
    <a:masterClrMapping/>
  </p:clrMapOvr>
  <p:transition>
    <p:fade/>
  </p:transition>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746551886"/>
      </p:ext>
    </p:extLst>
  </p:cSld>
  <p:clrMapOvr>
    <a:masterClrMapping/>
  </p:clrMapOvr>
  <p:transition>
    <p:fade/>
  </p:transition>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dirty="0"/>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3092734165"/>
      </p:ext>
    </p:extLst>
  </p:cSld>
  <p:clrMapOvr>
    <a:masterClrMapping/>
  </p:clrMapOvr>
  <p:transition>
    <p:fade/>
  </p:transition>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540467378"/>
      </p:ext>
    </p:extLst>
  </p:cSld>
  <p:clrMapOvr>
    <a:masterClrMapping/>
  </p:clrMapOvr>
  <p:transition>
    <p:fade/>
  </p:transition>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a:ln>
            <a:solidFill>
              <a:schemeClr val="tx1"/>
            </a:solidFill>
          </a:ln>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 name="Text Placeholder 8">
            <a:extLst>
              <a:ext uri="{FF2B5EF4-FFF2-40B4-BE49-F238E27FC236}">
                <a16:creationId xmlns:a16="http://schemas.microsoft.com/office/drawing/2014/main" id="{F362A436-16E9-8D92-CE75-CF090274A98C}"/>
              </a:ext>
            </a:extLst>
          </p:cNvPr>
          <p:cNvSpPr>
            <a:spLocks noGrp="1"/>
          </p:cNvSpPr>
          <p:nvPr>
            <p:ph type="body" sz="quarter" idx="13" hasCustomPrompt="1"/>
          </p:nvPr>
        </p:nvSpPr>
        <p:spPr>
          <a:xfrm>
            <a:off x="457200" y="684000"/>
            <a:ext cx="11274552"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1CE7ED7B-D3F7-0C2D-3D7F-23B03A315C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1188281788"/>
      </p:ext>
    </p:extLst>
  </p:cSld>
  <p:clrMapOvr>
    <a:masterClrMapping/>
  </p:clrMapOvr>
  <p:transition>
    <p:fade/>
  </p:transition>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dirty="0"/>
              <a:t>Click to add text</a:t>
            </a:r>
          </a:p>
        </p:txBody>
      </p:sp>
      <p:pic>
        <p:nvPicPr>
          <p:cNvPr id="4" name="Picture 3">
            <a:extLst>
              <a:ext uri="{FF2B5EF4-FFF2-40B4-BE49-F238E27FC236}">
                <a16:creationId xmlns:a16="http://schemas.microsoft.com/office/drawing/2014/main" id="{62807C35-870E-BE5C-3063-D65F3CF32E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3" name="Picture 2">
            <a:extLst>
              <a:ext uri="{FF2B5EF4-FFF2-40B4-BE49-F238E27FC236}">
                <a16:creationId xmlns:a16="http://schemas.microsoft.com/office/drawing/2014/main" id="{203F6F65-0FAE-13C5-4935-4F5D23290CA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5" name="Picture 4">
            <a:extLst>
              <a:ext uri="{FF2B5EF4-FFF2-40B4-BE49-F238E27FC236}">
                <a16:creationId xmlns:a16="http://schemas.microsoft.com/office/drawing/2014/main" id="{B5567C3E-3181-DBCE-56F9-25416E46986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2" name="Picture 1">
            <a:extLst>
              <a:ext uri="{FF2B5EF4-FFF2-40B4-BE49-F238E27FC236}">
                <a16:creationId xmlns:a16="http://schemas.microsoft.com/office/drawing/2014/main" id="{FB50732A-3DE1-9BA2-E38D-3560C50CEFAC}"/>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7924" y="-4221"/>
            <a:ext cx="2551173" cy="1036908"/>
          </a:xfrm>
          <a:prstGeom prst="rect">
            <a:avLst/>
          </a:prstGeom>
        </p:spPr>
      </p:pic>
    </p:spTree>
    <p:extLst>
      <p:ext uri="{BB962C8B-B14F-4D97-AF65-F5344CB8AC3E}">
        <p14:creationId xmlns:p14="http://schemas.microsoft.com/office/powerpoint/2010/main" val="3252957544"/>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le Only - Light Gray">
    <p:bg>
      <p:bgPr>
        <a:solidFill>
          <a:schemeClr val="bg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278140349"/>
      </p:ext>
    </p:extLst>
  </p:cSld>
  <p:clrMapOvr>
    <a:masterClrMapping/>
  </p:clrMapOvr>
  <p:transition>
    <p:fade/>
  </p:transition>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le, subtitle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DD6240FD-6CE9-5B73-7D7B-7F60C832531D}"/>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D61B36F7-4D66-A541-48A9-D4104A28F22E}"/>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458DE312-1DB6-6A86-31A5-4DD91F4D295D}"/>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92C8AFF7-A1A4-8B8F-9682-D1150A2584E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065149632"/>
      </p:ext>
    </p:extLst>
  </p:cSld>
  <p:clrMapOvr>
    <a:masterClrMapping/>
  </p:clrMapOvr>
  <p:transition>
    <p:fade/>
  </p:transition>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le, subtitle, 1 column - Light Gray">
    <p:bg>
      <p:bgPr>
        <a:solidFill>
          <a:schemeClr val="bg2"/>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258115815"/>
      </p:ext>
    </p:extLst>
  </p:cSld>
  <p:clrMapOvr>
    <a:masterClrMapping/>
  </p:clrMapOvr>
  <p:transition>
    <p:fade/>
  </p:transition>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subtitle, 2 columns - Light Gray">
    <p:bg>
      <p:bgPr>
        <a:solidFill>
          <a:schemeClr val="bg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789427996"/>
      </p:ext>
    </p:extLst>
  </p:cSld>
  <p:clrMapOvr>
    <a:masterClrMapping/>
  </p:clrMapOvr>
  <p:transition>
    <p:fade/>
  </p:transition>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subtitle, 3 columns - Light Gray">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416093857"/>
      </p:ext>
    </p:extLst>
  </p:cSld>
  <p:clrMapOvr>
    <a:masterClrMapping/>
  </p:clrMapOvr>
  <p:transition>
    <p:fade/>
  </p:transition>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itle, subtitle, 4 columns - Light Gray">
    <p:bg>
      <p:bgPr>
        <a:solidFill>
          <a:schemeClr val="bg2"/>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320630551"/>
      </p:ext>
    </p:extLst>
  </p:cSld>
  <p:clrMapOvr>
    <a:masterClrMapping/>
  </p:clrMapOvr>
  <p:transition>
    <p:fade/>
  </p:transition>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am profile - Light Gray">
    <p:bg>
      <p:bgPr>
        <a:solidFill>
          <a:schemeClr val="bg2"/>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32591653"/>
      </p:ext>
    </p:extLst>
  </p:cSld>
  <p:clrMapOvr>
    <a:masterClrMapping/>
  </p:clrMapOvr>
  <p:transition>
    <p:fade/>
  </p:transition>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alifications 2 x 1 - Light Gray">
    <p:bg>
      <p:bgPr>
        <a:solidFill>
          <a:schemeClr val="bg2"/>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2496914466"/>
      </p:ext>
    </p:extLst>
  </p:cSld>
  <p:clrMapOvr>
    <a:masterClrMapping/>
  </p:clrMapOvr>
  <p:transition>
    <p:fade/>
  </p:transition>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itle Only - Pale Green">
    <p:bg>
      <p:bgPr>
        <a:solidFill>
          <a:schemeClr val="accent6"/>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5F1E13-4418-598B-C074-12679788BEC1}"/>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BA961EAC-1FA5-0FDD-A3C9-C201168F760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8" name="Text Placeholder 7">
            <a:extLst>
              <a:ext uri="{FF2B5EF4-FFF2-40B4-BE49-F238E27FC236}">
                <a16:creationId xmlns:a16="http://schemas.microsoft.com/office/drawing/2014/main" id="{676FE64C-1B0D-9ED0-06EE-18AB27B1B814}"/>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A60BDCA0-170F-9CD6-736F-61D6DB7637DE}"/>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663339171"/>
      </p:ext>
    </p:extLst>
  </p:cSld>
  <p:clrMapOvr>
    <a:masterClrMapping/>
  </p:clrMapOvr>
  <p:transition>
    <p:fade/>
  </p:transition>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subtitle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7">
            <a:extLst>
              <a:ext uri="{FF2B5EF4-FFF2-40B4-BE49-F238E27FC236}">
                <a16:creationId xmlns:a16="http://schemas.microsoft.com/office/drawing/2014/main" id="{DD6240FD-6CE9-5B73-7D7B-7F60C832531D}"/>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D61B36F7-4D66-A541-48A9-D4104A28F22E}"/>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458DE312-1DB6-6A86-31A5-4DD91F4D295D}"/>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92C8AFF7-A1A4-8B8F-9682-D1150A2584E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732568280"/>
      </p:ext>
    </p:extLst>
  </p:cSld>
  <p:clrMapOvr>
    <a:masterClrMapping/>
  </p:clrMapOvr>
  <p:transition>
    <p:fade/>
  </p:transition>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subtitle, 1 column - Pale Green">
    <p:bg>
      <p:bgPr>
        <a:solidFill>
          <a:schemeClr val="accent6"/>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7200" y="1682496"/>
            <a:ext cx="11274552" cy="4680204"/>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marL="365760">
              <a:spcBef>
                <a:spcPts val="200"/>
              </a:spcBef>
              <a:spcAft>
                <a:spcPts val="200"/>
              </a:spcAft>
              <a:defRPr>
                <a:latin typeface="Aptos" panose="020B0004020202020204" pitchFamily="34" charset="0"/>
              </a:defRPr>
            </a:lvl3pPr>
            <a:lvl4pPr marL="548640" indent="-182880">
              <a:spcBef>
                <a:spcPts val="200"/>
              </a:spcBef>
              <a:spcAft>
                <a:spcPts val="200"/>
              </a:spcAft>
              <a:defRPr>
                <a:latin typeface="Aptos" panose="020B0004020202020204" pitchFamily="34" charset="0"/>
              </a:defRPr>
            </a:lvl4pPr>
            <a:lvl5pPr marL="731520">
              <a:spcBef>
                <a:spcPts val="200"/>
              </a:spcBef>
              <a:spcAft>
                <a:spcPts val="200"/>
              </a:spcAft>
              <a:defRPr>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Rectangle 8">
            <a:extLst>
              <a:ext uri="{FF2B5EF4-FFF2-40B4-BE49-F238E27FC236}">
                <a16:creationId xmlns:a16="http://schemas.microsoft.com/office/drawing/2014/main" id="{F19198A8-E422-E08B-1999-D575365416BF}"/>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72CE27D6-13F3-7804-83B8-3812226E3D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9B822AB7-E232-4B55-B95C-CA9751788E5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9F98E4A-3C3F-467B-D987-D07B2DB9C93B}"/>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136727070"/>
      </p:ext>
    </p:extLst>
  </p:cSld>
  <p:clrMapOvr>
    <a:masterClrMapping/>
  </p:clrMapOvr>
  <p:transition>
    <p:fade/>
  </p:transition>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subtitle, 2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8966"/>
            <a:ext cx="5486400"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3"/>
          <p:cNvSpPr>
            <a:spLocks noGrp="1"/>
          </p:cNvSpPr>
          <p:nvPr>
            <p:ph sz="quarter" idx="20" hasCustomPrompt="1"/>
          </p:nvPr>
        </p:nvSpPr>
        <p:spPr>
          <a:xfrm>
            <a:off x="6250845" y="1678966"/>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5760" indent="-179388" algn="l">
              <a:spcBef>
                <a:spcPts val="200"/>
              </a:spcBef>
              <a:spcAft>
                <a:spcPts val="200"/>
              </a:spcAft>
              <a:buClrTx/>
              <a:buSzPct val="100000"/>
              <a:buFont typeface="Arial" panose="020B0604020202020204" pitchFamily="34" charset="0"/>
              <a:buChar char="−"/>
              <a:tabLst>
                <a:tab pos="3771900" algn="r"/>
              </a:tabLst>
              <a:defRPr sz="1200"/>
            </a:lvl3pPr>
            <a:lvl4pPr marL="548640" indent="-182880" algn="l">
              <a:spcBef>
                <a:spcPts val="200"/>
              </a:spcBef>
              <a:spcAft>
                <a:spcPts val="200"/>
              </a:spcAft>
              <a:buClrTx/>
              <a:buSzPct val="100000"/>
              <a:buFont typeface="Arial" panose="020B0604020202020204" pitchFamily="34" charset="0"/>
              <a:buChar char="◦"/>
              <a:tabLst>
                <a:tab pos="3771900" algn="r"/>
              </a:tabLst>
              <a:defRPr sz="1200"/>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Rectangle 7">
            <a:extLst>
              <a:ext uri="{FF2B5EF4-FFF2-40B4-BE49-F238E27FC236}">
                <a16:creationId xmlns:a16="http://schemas.microsoft.com/office/drawing/2014/main" id="{BAFB8886-D787-57CC-4B10-F09532715B75}"/>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9" name="Text Placeholder 5">
            <a:extLst>
              <a:ext uri="{FF2B5EF4-FFF2-40B4-BE49-F238E27FC236}">
                <a16:creationId xmlns:a16="http://schemas.microsoft.com/office/drawing/2014/main" id="{FD6F8B2B-EBB5-CB17-4C07-237EAA5302C6}"/>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6C13D045-AC7E-62E1-6E54-7989A193186E}"/>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CE9ADC3A-733E-B0C3-7E56-F3F1B58EF9C5}"/>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535402337"/>
      </p:ext>
    </p:extLst>
  </p:cSld>
  <p:clrMapOvr>
    <a:masterClrMapping/>
  </p:clrMapOvr>
  <p:transition>
    <p:fade/>
  </p:transition>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itle, subtitle, 3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268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188160" y="1680432"/>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Rectangle 1">
            <a:extLst>
              <a:ext uri="{FF2B5EF4-FFF2-40B4-BE49-F238E27FC236}">
                <a16:creationId xmlns:a16="http://schemas.microsoft.com/office/drawing/2014/main" id="{D7ABC34C-6400-5284-175F-DCBC0FF4C45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4" name="Text Placeholder 5">
            <a:extLst>
              <a:ext uri="{FF2B5EF4-FFF2-40B4-BE49-F238E27FC236}">
                <a16:creationId xmlns:a16="http://schemas.microsoft.com/office/drawing/2014/main" id="{925E4855-50D5-167C-20FC-36634EF2A76F}"/>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9" name="Text Placeholder 7">
            <a:extLst>
              <a:ext uri="{FF2B5EF4-FFF2-40B4-BE49-F238E27FC236}">
                <a16:creationId xmlns:a16="http://schemas.microsoft.com/office/drawing/2014/main" id="{55FBAF71-9ABA-E5E3-92E4-D3B880CF48A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3" name="Rectangle 2">
            <a:extLst>
              <a:ext uri="{FF2B5EF4-FFF2-40B4-BE49-F238E27FC236}">
                <a16:creationId xmlns:a16="http://schemas.microsoft.com/office/drawing/2014/main" id="{7129BAB5-7E18-7CA4-E491-CFBBC15D414C}"/>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257648513"/>
      </p:ext>
    </p:extLst>
  </p:cSld>
  <p:clrMapOvr>
    <a:masterClrMapping/>
  </p:clrMapOvr>
  <p:transition>
    <p:fade/>
  </p:transition>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itle, subtitle, 4 columns - Pale Green">
    <p:bg>
      <p:bgPr>
        <a:solidFill>
          <a:schemeClr val="accent6"/>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1552"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85904"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50256" y="1678002"/>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576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3" name="Rectangle 2">
            <a:extLst>
              <a:ext uri="{FF2B5EF4-FFF2-40B4-BE49-F238E27FC236}">
                <a16:creationId xmlns:a16="http://schemas.microsoft.com/office/drawing/2014/main" id="{CB856A78-3545-9D7B-9B1D-9AE4F55FC8F3}"/>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7" name="Text Placeholder 5">
            <a:extLst>
              <a:ext uri="{FF2B5EF4-FFF2-40B4-BE49-F238E27FC236}">
                <a16:creationId xmlns:a16="http://schemas.microsoft.com/office/drawing/2014/main" id="{138E7C72-C010-DA66-DF7D-35A25DD79F92}"/>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0" name="Text Placeholder 7">
            <a:extLst>
              <a:ext uri="{FF2B5EF4-FFF2-40B4-BE49-F238E27FC236}">
                <a16:creationId xmlns:a16="http://schemas.microsoft.com/office/drawing/2014/main" id="{E208F306-D5E9-9F07-9D03-6822787DE5F8}"/>
              </a:ext>
            </a:extLst>
          </p:cNvPr>
          <p:cNvSpPr>
            <a:spLocks noGrp="1"/>
          </p:cNvSpPr>
          <p:nvPr>
            <p:ph type="body" sz="quarter" idx="28"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4E26C966-CA27-94D4-324B-5F76A1FC3EA0}"/>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1602867221"/>
      </p:ext>
    </p:extLst>
  </p:cSld>
  <p:clrMapOvr>
    <a:masterClrMapping/>
  </p:clrMapOvr>
  <p:transition>
    <p:fade/>
  </p:transition>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eam profile - Pale Green">
    <p:bg>
      <p:bgPr>
        <a:solidFill>
          <a:schemeClr val="accent6"/>
        </a:solidFill>
        <a:effectLst/>
      </p:bgPr>
    </p:bg>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9842"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0">
                <a:latin typeface="Aptos" panose="020B0004020202020204" pitchFamily="34" charset="0"/>
              </a:defRPr>
            </a:lvl1pPr>
            <a:lvl2pPr>
              <a:spcBef>
                <a:spcPts val="200"/>
              </a:spcBef>
              <a:spcAft>
                <a:spcPts val="200"/>
              </a:spcAft>
              <a:defRPr sz="1200" b="0">
                <a:latin typeface="Aptos" panose="020B0004020202020204" pitchFamily="34" charset="0"/>
              </a:defRPr>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89188" y="1880213"/>
            <a:ext cx="3846100"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2" y="4256213"/>
            <a:ext cx="3849624"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86933" y="4256213"/>
            <a:ext cx="3848355" cy="1944000"/>
          </a:xfrm>
        </p:spPr>
        <p:txBody>
          <a:bodyPr/>
          <a:lstStyle>
            <a:lvl1pPr>
              <a:spcBef>
                <a:spcPts val="200"/>
              </a:spcBef>
              <a:spcAft>
                <a:spcPts val="200"/>
              </a:spcAft>
              <a:defRPr sz="1200" b="0"/>
            </a:lvl1pPr>
            <a:lvl2pPr>
              <a:spcBef>
                <a:spcPts val="200"/>
              </a:spcBef>
              <a:spcAft>
                <a:spcPts val="200"/>
              </a:spcAft>
              <a:defRPr sz="1200" b="0"/>
            </a:lvl2pPr>
            <a:lvl3pPr marL="365760">
              <a:defRPr b="0"/>
            </a:lvl3pPr>
            <a:lvl4pPr marL="548640" indent="-182880">
              <a:defRPr b="0"/>
            </a:lvl4pPr>
            <a:lvl5pPr marL="731520">
              <a:defRPr b="0"/>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10" name="Rectangle 9">
            <a:extLst>
              <a:ext uri="{FF2B5EF4-FFF2-40B4-BE49-F238E27FC236}">
                <a16:creationId xmlns:a16="http://schemas.microsoft.com/office/drawing/2014/main" id="{8B1455C2-E21F-06D2-DADD-7FD7A0C6A036}"/>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7200" y="4044901"/>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6" name="Rectangle 15">
            <a:extLst>
              <a:ext uri="{FF2B5EF4-FFF2-40B4-BE49-F238E27FC236}">
                <a16:creationId xmlns:a16="http://schemas.microsoft.com/office/drawing/2014/main" id="{173C72F6-78BA-1C5C-0E41-3928DBA9B4D8}"/>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8" name="Text Placeholder 5">
            <a:extLst>
              <a:ext uri="{FF2B5EF4-FFF2-40B4-BE49-F238E27FC236}">
                <a16:creationId xmlns:a16="http://schemas.microsoft.com/office/drawing/2014/main" id="{1779F49E-3102-B8AE-3214-0E5933FEBBAA}"/>
              </a:ext>
            </a:extLst>
          </p:cNvPr>
          <p:cNvSpPr>
            <a:spLocks noGrp="1"/>
          </p:cNvSpPr>
          <p:nvPr>
            <p:ph type="body" sz="quarter" idx="36"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9" name="Text Placeholder 7">
            <a:extLst>
              <a:ext uri="{FF2B5EF4-FFF2-40B4-BE49-F238E27FC236}">
                <a16:creationId xmlns:a16="http://schemas.microsoft.com/office/drawing/2014/main" id="{736BED1F-8F10-CF1B-922C-6719E90171B7}"/>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4" name="Rectangle 13">
            <a:extLst>
              <a:ext uri="{FF2B5EF4-FFF2-40B4-BE49-F238E27FC236}">
                <a16:creationId xmlns:a16="http://schemas.microsoft.com/office/drawing/2014/main" id="{1174E6B2-A34D-D64D-6B7B-7A40DF2A7243}"/>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4207086694"/>
      </p:ext>
    </p:extLst>
  </p:cSld>
  <p:clrMapOvr>
    <a:masterClrMapping/>
  </p:clrMapOvr>
  <p:transition>
    <p:fade/>
  </p:transition>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alifications 2 x 1 - Pale Green">
    <p:bg>
      <p:bgPr>
        <a:solidFill>
          <a:schemeClr val="accent6"/>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Rectangle 11">
            <a:extLst>
              <a:ext uri="{FF2B5EF4-FFF2-40B4-BE49-F238E27FC236}">
                <a16:creationId xmlns:a16="http://schemas.microsoft.com/office/drawing/2014/main" id="{DD670E7F-2D5F-E74D-FF59-5BD6C5BC34F1}"/>
              </a:ext>
            </a:extLst>
          </p:cNvPr>
          <p:cNvSpPr/>
          <p:nvPr/>
        </p:nvSpPr>
        <p:spPr>
          <a:xfrm>
            <a:off x="6245352"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0CD4E13F-35DC-E442-82C0-9B5EE61D2906}"/>
              </a:ext>
            </a:extLst>
          </p:cNvPr>
          <p:cNvSpPr/>
          <p:nvPr/>
        </p:nvSpPr>
        <p:spPr>
          <a:xfrm>
            <a:off x="457200" y="1677307"/>
            <a:ext cx="5495544" cy="6096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20" name="Picture Placeholder 11">
            <a:extLst>
              <a:ext uri="{FF2B5EF4-FFF2-40B4-BE49-F238E27FC236}">
                <a16:creationId xmlns:a16="http://schemas.microsoft.com/office/drawing/2014/main" id="{32DA993B-B409-E5C0-E8A1-3920C08FA402}"/>
              </a:ext>
            </a:extLst>
          </p:cNvPr>
          <p:cNvSpPr>
            <a:spLocks noGrp="1"/>
          </p:cNvSpPr>
          <p:nvPr>
            <p:ph type="pic" sz="quarter" idx="28"/>
          </p:nvPr>
        </p:nvSpPr>
        <p:spPr>
          <a:xfrm>
            <a:off x="4476744"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21" name="Picture Placeholder 11">
            <a:extLst>
              <a:ext uri="{FF2B5EF4-FFF2-40B4-BE49-F238E27FC236}">
                <a16:creationId xmlns:a16="http://schemas.microsoft.com/office/drawing/2014/main" id="{9EA35630-FAAB-0992-9BD2-E2CF77317F5E}"/>
              </a:ext>
            </a:extLst>
          </p:cNvPr>
          <p:cNvSpPr>
            <a:spLocks noGrp="1"/>
          </p:cNvSpPr>
          <p:nvPr>
            <p:ph type="pic" sz="quarter" idx="29"/>
          </p:nvPr>
        </p:nvSpPr>
        <p:spPr>
          <a:xfrm>
            <a:off x="10258285"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dirty="0"/>
          </a:p>
        </p:txBody>
      </p:sp>
      <p:sp>
        <p:nvSpPr>
          <p:cNvPr id="4" name="Text Placeholder 12">
            <a:extLst>
              <a:ext uri="{FF2B5EF4-FFF2-40B4-BE49-F238E27FC236}">
                <a16:creationId xmlns:a16="http://schemas.microsoft.com/office/drawing/2014/main" id="{4A6BC76D-8B27-508E-2FA1-4B668FF32EE7}"/>
              </a:ext>
            </a:extLst>
          </p:cNvPr>
          <p:cNvSpPr>
            <a:spLocks noGrp="1"/>
          </p:cNvSpPr>
          <p:nvPr>
            <p:ph type="body" sz="quarter" idx="32" hasCustomPrompt="1"/>
          </p:nvPr>
        </p:nvSpPr>
        <p:spPr>
          <a:xfrm>
            <a:off x="457200"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5" name="Text Placeholder 12">
            <a:extLst>
              <a:ext uri="{FF2B5EF4-FFF2-40B4-BE49-F238E27FC236}">
                <a16:creationId xmlns:a16="http://schemas.microsoft.com/office/drawing/2014/main" id="{9C91076D-2B86-9AF3-18AC-3BF3B0940503}"/>
              </a:ext>
            </a:extLst>
          </p:cNvPr>
          <p:cNvSpPr>
            <a:spLocks noGrp="1"/>
          </p:cNvSpPr>
          <p:nvPr>
            <p:ph type="body" sz="quarter" idx="33" hasCustomPrompt="1"/>
          </p:nvPr>
        </p:nvSpPr>
        <p:spPr>
          <a:xfrm>
            <a:off x="6250493" y="3498336"/>
            <a:ext cx="5495544" cy="1944000"/>
          </a:xfrm>
        </p:spPr>
        <p:txBody>
          <a:bodyPr/>
          <a:lstStyle>
            <a:lvl1pPr>
              <a:spcBef>
                <a:spcPts val="200"/>
              </a:spcBef>
              <a:spcAft>
                <a:spcPts val="200"/>
              </a:spcAft>
              <a:defRPr sz="1200" b="0"/>
            </a:lvl1pPr>
            <a:lvl2pPr>
              <a:spcBef>
                <a:spcPts val="200"/>
              </a:spcBef>
              <a:spcAft>
                <a:spcPts val="200"/>
              </a:spcAft>
              <a:defRPr sz="1200" b="0"/>
            </a:lvl2pPr>
            <a:lvl3pPr marL="365760">
              <a:defRPr/>
            </a:lvl3pPr>
            <a:lvl4pPr marL="548640" indent="-182880">
              <a:defRPr/>
            </a:lvl4pPr>
            <a:lvl5pPr marL="73152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p:txBody>
      </p:sp>
      <p:sp>
        <p:nvSpPr>
          <p:cNvPr id="6" name="Text Placeholder 17">
            <a:extLst>
              <a:ext uri="{FF2B5EF4-FFF2-40B4-BE49-F238E27FC236}">
                <a16:creationId xmlns:a16="http://schemas.microsoft.com/office/drawing/2014/main" id="{189A445A-42B3-EBFA-8922-62959EFA0423}"/>
              </a:ext>
            </a:extLst>
          </p:cNvPr>
          <p:cNvSpPr>
            <a:spLocks noGrp="1"/>
          </p:cNvSpPr>
          <p:nvPr>
            <p:ph type="body" sz="quarter" idx="4294967295" hasCustomPrompt="1"/>
          </p:nvPr>
        </p:nvSpPr>
        <p:spPr>
          <a:xfrm>
            <a:off x="457200"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8" name="Text Placeholder 17">
            <a:extLst>
              <a:ext uri="{FF2B5EF4-FFF2-40B4-BE49-F238E27FC236}">
                <a16:creationId xmlns:a16="http://schemas.microsoft.com/office/drawing/2014/main" id="{9AF1B057-ABA1-7B5A-87C8-FD35492C6CB7}"/>
              </a:ext>
            </a:extLst>
          </p:cNvPr>
          <p:cNvSpPr>
            <a:spLocks noGrp="1"/>
          </p:cNvSpPr>
          <p:nvPr>
            <p:ph type="body" sz="quarter" idx="4294967295" hasCustomPrompt="1"/>
          </p:nvPr>
        </p:nvSpPr>
        <p:spPr>
          <a:xfrm>
            <a:off x="6250493" y="1876425"/>
            <a:ext cx="3922713" cy="1482725"/>
          </a:xfrm>
        </p:spPr>
        <p:txBody>
          <a:body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9" name="Rectangle 8">
            <a:extLst>
              <a:ext uri="{FF2B5EF4-FFF2-40B4-BE49-F238E27FC236}">
                <a16:creationId xmlns:a16="http://schemas.microsoft.com/office/drawing/2014/main" id="{15713351-1050-58DB-B581-362137AA9D6A}"/>
              </a:ext>
            </a:extLst>
          </p:cNvPr>
          <p:cNvSpPr/>
          <p:nvPr/>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
        <p:nvSpPr>
          <p:cNvPr id="10" name="Text Placeholder 5">
            <a:extLst>
              <a:ext uri="{FF2B5EF4-FFF2-40B4-BE49-F238E27FC236}">
                <a16:creationId xmlns:a16="http://schemas.microsoft.com/office/drawing/2014/main" id="{E3461D73-65A9-1349-DCD3-96DBD604FF11}"/>
              </a:ext>
            </a:extLst>
          </p:cNvPr>
          <p:cNvSpPr>
            <a:spLocks noGrp="1"/>
          </p:cNvSpPr>
          <p:nvPr>
            <p:ph type="body" sz="quarter" idx="27" hasCustomPrompt="1"/>
          </p:nvPr>
        </p:nvSpPr>
        <p:spPr>
          <a:xfrm>
            <a:off x="457200" y="608466"/>
            <a:ext cx="11277600" cy="398072"/>
          </a:xfrm>
        </p:spPr>
        <p:txBody>
          <a:bodyPr tIns="0" bIns="0">
            <a:noAutofit/>
          </a:bodyPr>
          <a:lstStyle>
            <a:lvl1pPr marL="0" indent="0">
              <a:buNone/>
              <a:defRPr sz="2800"/>
            </a:lvl1pPr>
          </a:lstStyle>
          <a:p>
            <a:pPr lvl="0"/>
            <a:r>
              <a:rPr lang="en-US" dirty="0"/>
              <a:t>Click to add title</a:t>
            </a:r>
          </a:p>
        </p:txBody>
      </p:sp>
      <p:sp>
        <p:nvSpPr>
          <p:cNvPr id="11" name="Text Placeholder 7">
            <a:extLst>
              <a:ext uri="{FF2B5EF4-FFF2-40B4-BE49-F238E27FC236}">
                <a16:creationId xmlns:a16="http://schemas.microsoft.com/office/drawing/2014/main" id="{2306E346-2203-9121-093F-71FADAF07AD8}"/>
              </a:ext>
            </a:extLst>
          </p:cNvPr>
          <p:cNvSpPr>
            <a:spLocks noGrp="1"/>
          </p:cNvSpPr>
          <p:nvPr>
            <p:ph type="body" sz="quarter" idx="15" hasCustomPrompt="1"/>
          </p:nvPr>
        </p:nvSpPr>
        <p:spPr>
          <a:xfrm>
            <a:off x="457200" y="344856"/>
            <a:ext cx="11277600" cy="263609"/>
          </a:xfrm>
        </p:spPr>
        <p:txBody>
          <a:bodyPr lIns="0"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900" b="1" cap="all" spc="300" baseline="0">
                <a:latin typeface="+mj-lt"/>
              </a:defRPr>
            </a:lvl1pPr>
            <a:lvl2pPr marL="457200" indent="0">
              <a:buNone/>
              <a:defRPr sz="900" b="1"/>
            </a:lvl2pPr>
            <a:lvl3pPr marL="914400" indent="0">
              <a:buNone/>
              <a:defRPr sz="900" b="1"/>
            </a:lvl3pPr>
            <a:lvl4pPr marL="1371600" indent="0">
              <a:buNone/>
              <a:defRPr sz="900" b="1"/>
            </a:lvl4pPr>
            <a:lvl5pPr marL="1828800" indent="0">
              <a:buNone/>
              <a:defRPr sz="9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subtitle</a:t>
            </a:r>
            <a:endParaRPr kumimoji="0" lang="en-US" sz="900" b="1" i="0" u="none" strike="noStrike" kern="1200" cap="none" spc="300" normalizeH="0" baseline="0" noProof="0" dirty="0">
              <a:ln>
                <a:noFill/>
              </a:ln>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1">
            <a:extLst>
              <a:ext uri="{FF2B5EF4-FFF2-40B4-BE49-F238E27FC236}">
                <a16:creationId xmlns:a16="http://schemas.microsoft.com/office/drawing/2014/main" id="{722385F7-0E68-136E-49BA-D113551EF594}"/>
              </a:ext>
            </a:extLst>
          </p:cNvPr>
          <p:cNvSpPr/>
          <p:nvPr userDrawn="1"/>
        </p:nvSpPr>
        <p:spPr bwMode="gray">
          <a:xfrm flipH="1">
            <a:off x="330058" y="345569"/>
            <a:ext cx="45719" cy="66096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lvl="0" algn="ctr"/>
            <a:endParaRPr lang="en-US" noProof="0">
              <a:solidFill>
                <a:schemeClr val="tx1"/>
              </a:solidFill>
            </a:endParaRPr>
          </a:p>
        </p:txBody>
      </p:sp>
    </p:spTree>
    <p:extLst>
      <p:ext uri="{BB962C8B-B14F-4D97-AF65-F5344CB8AC3E}">
        <p14:creationId xmlns:p14="http://schemas.microsoft.com/office/powerpoint/2010/main" val="359264808"/>
      </p:ext>
    </p:extLst>
  </p:cSld>
  <p:clrMapOvr>
    <a:masterClrMapping/>
  </p:clrMapOvr>
  <p:transition>
    <p:fade/>
  </p:transition>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only - Black">
    <p:bg>
      <p:bgRef idx="1001">
        <a:schemeClr val="bg1"/>
      </p:bgRef>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382513918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itle, subtitle - Black">
    <p:bg>
      <p:bgRef idx="1001">
        <a:schemeClr val="bg1"/>
      </p:bgRef>
    </p:bg>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7200" y="684000"/>
            <a:ext cx="11274552" cy="757255"/>
          </a:xfrm>
          <a:prstGeom prst="rect">
            <a:avLst/>
          </a:prstGeom>
        </p:spPr>
        <p:txBody>
          <a:bodyPr lIns="0" tIns="0" rIns="0" bIns="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dirty="0"/>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dirty="0"/>
              <a:t>Click to add title</a:t>
            </a:r>
          </a:p>
        </p:txBody>
      </p:sp>
    </p:spTree>
    <p:extLst>
      <p:ext uri="{BB962C8B-B14F-4D97-AF65-F5344CB8AC3E}">
        <p14:creationId xmlns:p14="http://schemas.microsoft.com/office/powerpoint/2010/main" val="2758844420"/>
      </p:ext>
    </p:extLst>
  </p:cSld>
  <p:clrMapOvr>
    <a:overrideClrMapping bg1="dk1" tx1="lt1" bg2="dk2" tx2="lt2" accent1="accent1" accent2="accent2" accent3="accent3" accent4="accent4" accent5="accent5" accent6="accent6" hlink="hlink" folHlink="folHlink"/>
  </p:clrMapOvr>
  <p:transition>
    <p:fade/>
  </p:transition>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itle, subtitle, 1 column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4" name="Text Placeholder 18">
            <a:extLst>
              <a:ext uri="{FF2B5EF4-FFF2-40B4-BE49-F238E27FC236}">
                <a16:creationId xmlns:a16="http://schemas.microsoft.com/office/drawing/2014/main" id="{FB46B341-3430-2348-6D11-485200BFA997}"/>
              </a:ext>
            </a:extLst>
          </p:cNvPr>
          <p:cNvSpPr>
            <a:spLocks noGrp="1"/>
          </p:cNvSpPr>
          <p:nvPr>
            <p:ph idx="1" hasCustomPrompt="1"/>
          </p:nvPr>
        </p:nvSpPr>
        <p:spPr>
          <a:xfrm>
            <a:off x="457200" y="1677579"/>
            <a:ext cx="11274552" cy="4681728"/>
          </a:xfrm>
          <a:prstGeom prst="rect">
            <a:avLst/>
          </a:prstGeom>
          <a:solidFill>
            <a:schemeClr val="tx1"/>
          </a:solidFill>
        </p:spPr>
        <p:txBody>
          <a:bodyPr vert="horz" lIns="0" tIns="0" rIns="0" bIns="0" rtlCol="0">
            <a:noAutofit/>
          </a:bodyPr>
          <a:lstStyle>
            <a:lvl1pPr>
              <a:spcBef>
                <a:spcPts val="200"/>
              </a:spcBef>
              <a:spcAft>
                <a:spcPts val="200"/>
              </a:spcAft>
              <a:defRPr>
                <a:solidFill>
                  <a:schemeClr val="bg1"/>
                </a:solidFill>
                <a:latin typeface="Aptos" panose="020B0004020202020204" pitchFamily="34" charset="0"/>
              </a:defRPr>
            </a:lvl1pPr>
            <a:lvl2pPr>
              <a:spcBef>
                <a:spcPts val="200"/>
              </a:spcBef>
              <a:spcAft>
                <a:spcPts val="200"/>
              </a:spcAft>
              <a:defRPr>
                <a:solidFill>
                  <a:schemeClr val="bg1"/>
                </a:solidFill>
                <a:latin typeface="Aptos" panose="020B0004020202020204" pitchFamily="34" charset="0"/>
              </a:defRPr>
            </a:lvl2pPr>
            <a:lvl3pPr marL="365760">
              <a:spcBef>
                <a:spcPts val="200"/>
              </a:spcBef>
              <a:spcAft>
                <a:spcPts val="200"/>
              </a:spcAft>
              <a:defRPr>
                <a:solidFill>
                  <a:schemeClr val="bg1"/>
                </a:solidFill>
                <a:latin typeface="Aptos" panose="020B0004020202020204" pitchFamily="34" charset="0"/>
              </a:defRPr>
            </a:lvl3pPr>
            <a:lvl4pPr marL="548640" indent="-182880">
              <a:spcBef>
                <a:spcPts val="200"/>
              </a:spcBef>
              <a:spcAft>
                <a:spcPts val="200"/>
              </a:spcAft>
              <a:defRPr>
                <a:solidFill>
                  <a:schemeClr val="bg1"/>
                </a:solidFill>
                <a:latin typeface="Aptos" panose="020B0004020202020204" pitchFamily="34" charset="0"/>
              </a:defRPr>
            </a:lvl4pPr>
            <a:lvl5pPr marL="731520">
              <a:spcBef>
                <a:spcPts val="200"/>
              </a:spcBef>
              <a:spcAft>
                <a:spcPts val="200"/>
              </a:spcAft>
              <a:defRPr>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3762140600"/>
      </p:ext>
    </p:extLst>
  </p:cSld>
  <p:clrMapOvr>
    <a:masterClrMapping/>
  </p:clrMapOvr>
  <p:transition>
    <p:fade/>
  </p:transition>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subtitle, 2 columns - Black">
    <p:bg>
      <p:bgPr>
        <a:solidFill>
          <a:schemeClr val="tx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7200"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576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45E59B36-2F4F-A0E8-D1A8-C198F28B171E}"/>
              </a:ext>
            </a:extLst>
          </p:cNvPr>
          <p:cNvSpPr>
            <a:spLocks noGrp="1"/>
          </p:cNvSpPr>
          <p:nvPr>
            <p:ph sz="quarter" idx="15" hasCustomPrompt="1"/>
          </p:nvPr>
        </p:nvSpPr>
        <p:spPr>
          <a:xfrm>
            <a:off x="6249579" y="1677579"/>
            <a:ext cx="549554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755469370"/>
      </p:ext>
    </p:extLst>
  </p:cSld>
  <p:clrMapOvr>
    <a:masterClrMapping/>
  </p:clrMapOvr>
  <p:transition>
    <p:fade/>
  </p:transition>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subtitle, 3 columns -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7200"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defRPr sz="2100">
                <a:solidFill>
                  <a:schemeClr val="bg1"/>
                </a:solidFill>
                <a:latin typeface="Aptos" panose="020B0004020202020204" pitchFamily="34" charset="0"/>
              </a:defRPr>
            </a:lvl1pPr>
          </a:lstStyle>
          <a:p>
            <a:r>
              <a:rPr lang="en-US" dirty="0"/>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defRPr lang="en-US" sz="1800" b="0" dirty="0">
                <a:solidFill>
                  <a:srgbClr val="D0D0CE"/>
                </a:solidFill>
                <a:latin typeface="Aptos" panose="020B0004020202020204" pitchFamily="34" charset="0"/>
              </a:defRPr>
            </a:lvl1pPr>
          </a:lstStyle>
          <a:p>
            <a:pPr lvl="0"/>
            <a:r>
              <a:rPr lang="en-US" dirty="0"/>
              <a:t>Click to add subtitle</a:t>
            </a:r>
          </a:p>
        </p:txBody>
      </p:sp>
      <p:sp>
        <p:nvSpPr>
          <p:cNvPr id="4" name="Content Placeholder 3">
            <a:extLst>
              <a:ext uri="{FF2B5EF4-FFF2-40B4-BE49-F238E27FC236}">
                <a16:creationId xmlns:a16="http://schemas.microsoft.com/office/drawing/2014/main" id="{DF0E9C8C-3361-2EBB-1420-4D27917305A8}"/>
              </a:ext>
            </a:extLst>
          </p:cNvPr>
          <p:cNvSpPr>
            <a:spLocks noGrp="1"/>
          </p:cNvSpPr>
          <p:nvPr>
            <p:ph sz="quarter" idx="17" hasCustomPrompt="1"/>
          </p:nvPr>
        </p:nvSpPr>
        <p:spPr>
          <a:xfrm>
            <a:off x="4327048"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CD594323-BB1E-32C6-75D1-37D14037392C}"/>
              </a:ext>
            </a:extLst>
          </p:cNvPr>
          <p:cNvSpPr>
            <a:spLocks noGrp="1"/>
          </p:cNvSpPr>
          <p:nvPr>
            <p:ph sz="quarter" idx="18" hasCustomPrompt="1"/>
          </p:nvPr>
        </p:nvSpPr>
        <p:spPr>
          <a:xfrm>
            <a:off x="8193024" y="1682496"/>
            <a:ext cx="3549904"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788649007"/>
      </p:ext>
    </p:extLst>
  </p:cSld>
  <p:clrMapOvr>
    <a:masterClrMapping/>
  </p:clrMapOvr>
  <p:transition>
    <p:fade/>
  </p:transition>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itle, subtitle, 4 columns - Black">
    <p:bg>
      <p:bgPr>
        <a:solidFill>
          <a:schemeClr val="tx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720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3" name="Content Placeholder 3">
            <a:extLst>
              <a:ext uri="{FF2B5EF4-FFF2-40B4-BE49-F238E27FC236}">
                <a16:creationId xmlns:a16="http://schemas.microsoft.com/office/drawing/2014/main" id="{39EE392B-1FEE-21B0-181D-C9962A3FE8E5}"/>
              </a:ext>
            </a:extLst>
          </p:cNvPr>
          <p:cNvSpPr>
            <a:spLocks noGrp="1"/>
          </p:cNvSpPr>
          <p:nvPr>
            <p:ph sz="quarter" idx="18" hasCustomPrompt="1"/>
          </p:nvPr>
        </p:nvSpPr>
        <p:spPr>
          <a:xfrm>
            <a:off x="332232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3">
            <a:extLst>
              <a:ext uri="{FF2B5EF4-FFF2-40B4-BE49-F238E27FC236}">
                <a16:creationId xmlns:a16="http://schemas.microsoft.com/office/drawing/2014/main" id="{EC71861D-BC3F-2DAD-BA49-86947F937CC5}"/>
              </a:ext>
            </a:extLst>
          </p:cNvPr>
          <p:cNvSpPr>
            <a:spLocks noGrp="1"/>
          </p:cNvSpPr>
          <p:nvPr>
            <p:ph sz="quarter" idx="19" hasCustomPrompt="1"/>
          </p:nvPr>
        </p:nvSpPr>
        <p:spPr>
          <a:xfrm>
            <a:off x="618744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Content Placeholder 3">
            <a:extLst>
              <a:ext uri="{FF2B5EF4-FFF2-40B4-BE49-F238E27FC236}">
                <a16:creationId xmlns:a16="http://schemas.microsoft.com/office/drawing/2014/main" id="{6D62757C-35E9-6C73-1638-E2D99D8D412E}"/>
              </a:ext>
            </a:extLst>
          </p:cNvPr>
          <p:cNvSpPr>
            <a:spLocks noGrp="1"/>
          </p:cNvSpPr>
          <p:nvPr>
            <p:ph sz="quarter" idx="20" hasCustomPrompt="1"/>
          </p:nvPr>
        </p:nvSpPr>
        <p:spPr>
          <a:xfrm>
            <a:off x="9052560" y="1682496"/>
            <a:ext cx="2685018" cy="4681728"/>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086482776"/>
      </p:ext>
    </p:extLst>
  </p:cSld>
  <p:clrMapOvr>
    <a:masterClrMapping/>
  </p:clrMapOvr>
  <p:transition>
    <p:fade/>
  </p:transition>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eam profile - Black">
    <p:bg>
      <p:bgPr>
        <a:solidFill>
          <a:schemeClr val="tx1"/>
        </a:solidFill>
        <a:effectLst/>
      </p:bgPr>
    </p:bg>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7200" y="1880213"/>
            <a:ext cx="1476000" cy="1476000"/>
          </a:xfrm>
        </p:spPr>
        <p:txBody>
          <a:bodyPr>
            <a:normAutofit/>
          </a:bodyPr>
          <a:lstStyle>
            <a:lvl1pPr algn="ctr">
              <a:defRPr sz="1200"/>
            </a:lvl1pPr>
          </a:lstStyle>
          <a:p>
            <a:r>
              <a:rPr lang="en-US"/>
              <a:t>Click icon to add picture</a:t>
            </a:r>
            <a:endParaRPr lang="en-GB" dirty="0"/>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5352" y="1880213"/>
            <a:ext cx="1476000" cy="1476000"/>
          </a:xfrm>
        </p:spPr>
        <p:txBody>
          <a:bodyPr>
            <a:normAutofit/>
          </a:bodyPr>
          <a:lstStyle>
            <a:lvl1pPr algn="ctr">
              <a:defRPr sz="1200"/>
            </a:lvl1pPr>
          </a:lstStyle>
          <a:p>
            <a:r>
              <a:rPr lang="en-US"/>
              <a:t>Click icon to add picture</a:t>
            </a:r>
            <a:endParaRPr lang="en-GB" dirty="0"/>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7200" y="4256213"/>
            <a:ext cx="1476000" cy="1476000"/>
          </a:xfrm>
        </p:spPr>
        <p:txBody>
          <a:bodyPr>
            <a:normAutofit/>
          </a:bodyPr>
          <a:lstStyle>
            <a:lvl1pPr algn="ctr">
              <a:defRPr sz="1200"/>
            </a:lvl1pPr>
          </a:lstStyle>
          <a:p>
            <a:r>
              <a:rPr lang="en-US"/>
              <a:t>Click icon to add picture</a:t>
            </a:r>
            <a:endParaRPr lang="en-GB" dirty="0"/>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45352" y="4256213"/>
            <a:ext cx="1476000" cy="1476000"/>
          </a:xfrm>
        </p:spPr>
        <p:txBody>
          <a:bodyPr>
            <a:normAutofit/>
          </a:bodyPr>
          <a:lstStyle>
            <a:lvl1pPr algn="ctr">
              <a:defRPr sz="1200"/>
            </a:lvl1pPr>
          </a:lstStyle>
          <a:p>
            <a:r>
              <a:rPr lang="en-US"/>
              <a:t>Click icon to add picture</a:t>
            </a:r>
            <a:endParaRPr lang="en-GB" dirty="0"/>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898040"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0744"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898040"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Rectangle 9">
            <a:extLst>
              <a:ext uri="{FF2B5EF4-FFF2-40B4-BE49-F238E27FC236}">
                <a16:creationId xmlns:a16="http://schemas.microsoft.com/office/drawing/2014/main" id="{8B1455C2-E21F-06D2-DADD-7FD7A0C6A036}"/>
              </a:ext>
            </a:extLst>
          </p:cNvPr>
          <p:cNvSpPr/>
          <p:nvPr/>
        </p:nvSpPr>
        <p:spPr>
          <a:xfrm>
            <a:off x="6254496"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5352"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0000" y="4044901"/>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9" name="Text Placeholder 12">
            <a:extLst>
              <a:ext uri="{FF2B5EF4-FFF2-40B4-BE49-F238E27FC236}">
                <a16:creationId xmlns:a16="http://schemas.microsoft.com/office/drawing/2014/main" id="{98DB5DD3-41BE-3F94-9CAF-1C6AF307A274}"/>
              </a:ext>
            </a:extLst>
          </p:cNvPr>
          <p:cNvSpPr>
            <a:spLocks noGrp="1"/>
          </p:cNvSpPr>
          <p:nvPr>
            <p:ph type="body" sz="quarter" idx="36" hasCustomPrompt="1"/>
          </p:nvPr>
        </p:nvSpPr>
        <p:spPr>
          <a:xfrm>
            <a:off x="2100744"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vl3pPr marL="365760">
              <a:defRPr>
                <a:solidFill>
                  <a:schemeClr val="bg1"/>
                </a:solidFill>
              </a:defRPr>
            </a:lvl3pPr>
            <a:lvl4pPr marL="548640" indent="-182880">
              <a:defRPr>
                <a:solidFill>
                  <a:schemeClr val="bg1"/>
                </a:solidFill>
              </a:defRPr>
            </a:lvl4pPr>
            <a:lvl5pPr marL="731520">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Tree>
    <p:extLst>
      <p:ext uri="{BB962C8B-B14F-4D97-AF65-F5344CB8AC3E}">
        <p14:creationId xmlns:p14="http://schemas.microsoft.com/office/powerpoint/2010/main" val="1831862531"/>
      </p:ext>
    </p:extLst>
  </p:cSld>
  <p:clrMapOvr>
    <a:masterClrMapping/>
  </p:clrMapOvr>
  <p:transition>
    <p:fade/>
  </p:transition>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Qualifications 2 x 1 - Black">
    <p:bg>
      <p:bgPr>
        <a:solidFill>
          <a:schemeClr val="tx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Picture Placeholder 11">
            <a:extLst>
              <a:ext uri="{FF2B5EF4-FFF2-40B4-BE49-F238E27FC236}">
                <a16:creationId xmlns:a16="http://schemas.microsoft.com/office/drawing/2014/main" id="{DFBE7610-ECB4-CA89-5B4C-9B0C6E8A5706}"/>
              </a:ext>
            </a:extLst>
          </p:cNvPr>
          <p:cNvSpPr>
            <a:spLocks noGrp="1"/>
          </p:cNvSpPr>
          <p:nvPr>
            <p:ph type="pic" sz="quarter" idx="28"/>
          </p:nvPr>
        </p:nvSpPr>
        <p:spPr>
          <a:xfrm>
            <a:off x="4476744" y="1883664"/>
            <a:ext cx="1476000" cy="1476000"/>
          </a:xfrm>
        </p:spPr>
        <p:txBody>
          <a:bodyPr>
            <a:normAutofit/>
          </a:bodyPr>
          <a:lstStyle>
            <a:lvl1pPr algn="ctr">
              <a:defRPr sz="1200"/>
            </a:lvl1pPr>
          </a:lstStyle>
          <a:p>
            <a:r>
              <a:rPr lang="en-US"/>
              <a:t>Click icon to add picture</a:t>
            </a:r>
            <a:endParaRPr lang="en-GB" dirty="0"/>
          </a:p>
        </p:txBody>
      </p:sp>
      <p:sp>
        <p:nvSpPr>
          <p:cNvPr id="18" name="Picture Placeholder 11">
            <a:extLst>
              <a:ext uri="{FF2B5EF4-FFF2-40B4-BE49-F238E27FC236}">
                <a16:creationId xmlns:a16="http://schemas.microsoft.com/office/drawing/2014/main" id="{6E7011BF-A32B-4689-4585-D2226C8A39D9}"/>
              </a:ext>
            </a:extLst>
          </p:cNvPr>
          <p:cNvSpPr>
            <a:spLocks noGrp="1"/>
          </p:cNvSpPr>
          <p:nvPr>
            <p:ph type="pic" sz="quarter" idx="29"/>
          </p:nvPr>
        </p:nvSpPr>
        <p:spPr>
          <a:xfrm>
            <a:off x="10278000" y="1883664"/>
            <a:ext cx="1476000" cy="1476000"/>
          </a:xfrm>
        </p:spPr>
        <p:txBody>
          <a:bodyPr>
            <a:normAutofit/>
          </a:bodyPr>
          <a:lstStyle>
            <a:lvl1pPr algn="ctr">
              <a:defRPr sz="1200"/>
            </a:lvl1pPr>
          </a:lstStyle>
          <a:p>
            <a:r>
              <a:rPr lang="en-US"/>
              <a:t>Click icon to add picture</a:t>
            </a:r>
            <a:endParaRPr lang="en-GB" dirty="0"/>
          </a:p>
        </p:txBody>
      </p:sp>
      <p:sp>
        <p:nvSpPr>
          <p:cNvPr id="9" name="Content Placeholder 3">
            <a:extLst>
              <a:ext uri="{FF2B5EF4-FFF2-40B4-BE49-F238E27FC236}">
                <a16:creationId xmlns:a16="http://schemas.microsoft.com/office/drawing/2014/main" id="{DBEB426A-016F-1B65-1168-FF2235F36C2A}"/>
              </a:ext>
            </a:extLst>
          </p:cNvPr>
          <p:cNvSpPr>
            <a:spLocks noGrp="1"/>
          </p:cNvSpPr>
          <p:nvPr>
            <p:ph sz="quarter" idx="10" hasCustomPrompt="1"/>
          </p:nvPr>
        </p:nvSpPr>
        <p:spPr>
          <a:xfrm>
            <a:off x="457200"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2" name="Title Placeholder 1">
            <a:extLst>
              <a:ext uri="{FF2B5EF4-FFF2-40B4-BE49-F238E27FC236}">
                <a16:creationId xmlns:a16="http://schemas.microsoft.com/office/drawing/2014/main" id="{843CBCEE-6AB3-6F31-A1DF-F3F88E17572A}"/>
              </a:ext>
            </a:extLst>
          </p:cNvPr>
          <p:cNvSpPr>
            <a:spLocks noGrp="1"/>
          </p:cNvSpPr>
          <p:nvPr>
            <p:ph type="title" hasCustomPrompt="1"/>
          </p:nvPr>
        </p:nvSpPr>
        <p:spPr>
          <a:xfrm>
            <a:off x="457200" y="345992"/>
            <a:ext cx="11274552"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dirty="0"/>
              <a:t>Click to add title</a:t>
            </a:r>
          </a:p>
        </p:txBody>
      </p:sp>
      <p:sp>
        <p:nvSpPr>
          <p:cNvPr id="14" name="Text Placeholder 8">
            <a:extLst>
              <a:ext uri="{FF2B5EF4-FFF2-40B4-BE49-F238E27FC236}">
                <a16:creationId xmlns:a16="http://schemas.microsoft.com/office/drawing/2014/main" id="{8D7B41BD-8ED5-299A-47F6-EACF78AFCB46}"/>
              </a:ext>
            </a:extLst>
          </p:cNvPr>
          <p:cNvSpPr>
            <a:spLocks noGrp="1"/>
          </p:cNvSpPr>
          <p:nvPr>
            <p:ph type="body" sz="quarter" idx="13" hasCustomPrompt="1"/>
          </p:nvPr>
        </p:nvSpPr>
        <p:spPr>
          <a:xfrm>
            <a:off x="457200" y="684000"/>
            <a:ext cx="11274552"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dirty="0"/>
              <a:t>Click to add subtitle</a:t>
            </a:r>
          </a:p>
        </p:txBody>
      </p:sp>
      <p:sp>
        <p:nvSpPr>
          <p:cNvPr id="15" name="Rectangle 14">
            <a:extLst>
              <a:ext uri="{FF2B5EF4-FFF2-40B4-BE49-F238E27FC236}">
                <a16:creationId xmlns:a16="http://schemas.microsoft.com/office/drawing/2014/main" id="{16E79773-3B23-90E9-4D48-A5FDB54800E7}"/>
              </a:ext>
            </a:extLst>
          </p:cNvPr>
          <p:cNvSpPr/>
          <p:nvPr/>
        </p:nvSpPr>
        <p:spPr>
          <a:xfrm>
            <a:off x="6245352"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7" name="Rectangle 16">
            <a:extLst>
              <a:ext uri="{FF2B5EF4-FFF2-40B4-BE49-F238E27FC236}">
                <a16:creationId xmlns:a16="http://schemas.microsoft.com/office/drawing/2014/main" id="{6B2B04A7-88BB-C053-00D5-6E084E746EAB}"/>
              </a:ext>
            </a:extLst>
          </p:cNvPr>
          <p:cNvSpPr/>
          <p:nvPr/>
        </p:nvSpPr>
        <p:spPr>
          <a:xfrm>
            <a:off x="457200" y="1677307"/>
            <a:ext cx="5495544"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Content Placeholder 3">
            <a:extLst>
              <a:ext uri="{FF2B5EF4-FFF2-40B4-BE49-F238E27FC236}">
                <a16:creationId xmlns:a16="http://schemas.microsoft.com/office/drawing/2014/main" id="{746306D7-050B-5308-5E5B-4221EF4A7F66}"/>
              </a:ext>
            </a:extLst>
          </p:cNvPr>
          <p:cNvSpPr>
            <a:spLocks noGrp="1"/>
          </p:cNvSpPr>
          <p:nvPr>
            <p:ph sz="quarter" idx="30" hasCustomPrompt="1"/>
          </p:nvPr>
        </p:nvSpPr>
        <p:spPr>
          <a:xfrm>
            <a:off x="6245352" y="3491918"/>
            <a:ext cx="5495544" cy="2880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8288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48640" indent="-18288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31520" indent="-18288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ext Placeholder 17">
            <a:extLst>
              <a:ext uri="{FF2B5EF4-FFF2-40B4-BE49-F238E27FC236}">
                <a16:creationId xmlns:a16="http://schemas.microsoft.com/office/drawing/2014/main" id="{6DE0135C-F9C3-EE2B-FE85-1B28EA0EBB82}"/>
              </a:ext>
            </a:extLst>
          </p:cNvPr>
          <p:cNvSpPr>
            <a:spLocks noGrp="1"/>
          </p:cNvSpPr>
          <p:nvPr>
            <p:ph type="body" sz="quarter" idx="4294967295" hasCustomPrompt="1"/>
          </p:nvPr>
        </p:nvSpPr>
        <p:spPr>
          <a:xfrm>
            <a:off x="457200"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
        <p:nvSpPr>
          <p:cNvPr id="3" name="Text Placeholder 17">
            <a:extLst>
              <a:ext uri="{FF2B5EF4-FFF2-40B4-BE49-F238E27FC236}">
                <a16:creationId xmlns:a16="http://schemas.microsoft.com/office/drawing/2014/main" id="{59E80491-83AB-C6B3-9191-54EDF5F4418A}"/>
              </a:ext>
            </a:extLst>
          </p:cNvPr>
          <p:cNvSpPr>
            <a:spLocks noGrp="1"/>
          </p:cNvSpPr>
          <p:nvPr>
            <p:ph type="body" sz="quarter" idx="4294967295" hasCustomPrompt="1"/>
          </p:nvPr>
        </p:nvSpPr>
        <p:spPr>
          <a:xfrm>
            <a:off x="6239258" y="1876425"/>
            <a:ext cx="3922713" cy="14827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dirty="0"/>
              <a:t>Click to add text</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pPr marL="0" marR="0" lvl="0" indent="0" algn="l" defTabSz="685800" rtl="0" eaLnBrk="1" fontAlgn="auto" latinLnBrk="0" hangingPunct="1">
              <a:lnSpc>
                <a:spcPct val="100000"/>
              </a:lnSpc>
              <a:spcBef>
                <a:spcPts val="200"/>
              </a:spcBef>
              <a:spcAft>
                <a:spcPts val="200"/>
              </a:spcAft>
              <a:buClrTx/>
              <a:buSzPct val="100000"/>
              <a:buFontTx/>
              <a:buNone/>
              <a:tabLst/>
              <a:defRPr/>
            </a:pPr>
            <a:endParaRPr kumimoji="0" lang="en-US" sz="1200" b="0" i="0" u="none" strike="noStrike" kern="1200" cap="none" spc="0" normalizeH="0" baseline="0" noProof="0" dirty="0">
              <a:ln>
                <a:noFill/>
              </a:ln>
              <a:solidFill>
                <a:prstClr val="black"/>
              </a:solidFill>
              <a:effectLst/>
              <a:uLnTx/>
              <a:uFillTx/>
              <a:latin typeface="Aptos" panose="020B0004020202020204" pitchFamily="34" charset="0"/>
              <a:ea typeface="+mn-ea"/>
              <a:cs typeface="Calibri Light" panose="020F0302020204030204" pitchFamily="34" charset="0"/>
            </a:endParaRPr>
          </a:p>
          <a:p>
            <a:endParaRPr lang="en-US" dirty="0"/>
          </a:p>
        </p:txBody>
      </p:sp>
    </p:spTree>
    <p:extLst>
      <p:ext uri="{BB962C8B-B14F-4D97-AF65-F5344CB8AC3E}">
        <p14:creationId xmlns:p14="http://schemas.microsoft.com/office/powerpoint/2010/main" val="2979340831"/>
      </p:ext>
    </p:extLst>
  </p:cSld>
  <p:clrMapOvr>
    <a:masterClrMapping/>
  </p:clrMapOvr>
  <p:transition>
    <p:fade/>
  </p:transition>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End slide -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7200" y="4187952"/>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dirty="0"/>
              <a:t>Click to add text</a:t>
            </a:r>
          </a:p>
        </p:txBody>
      </p:sp>
      <p:pic>
        <p:nvPicPr>
          <p:cNvPr id="4" name="Picture 3">
            <a:extLst>
              <a:ext uri="{FF2B5EF4-FFF2-40B4-BE49-F238E27FC236}">
                <a16:creationId xmlns:a16="http://schemas.microsoft.com/office/drawing/2014/main" id="{94ADCC45-3C19-3948-0E04-7130E1BB7E8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3" name="Picture 2">
            <a:extLst>
              <a:ext uri="{FF2B5EF4-FFF2-40B4-BE49-F238E27FC236}">
                <a16:creationId xmlns:a16="http://schemas.microsoft.com/office/drawing/2014/main" id="{18165AAD-CB29-40C9-DDB6-76BBE0FFB52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5" name="Picture 4">
            <a:extLst>
              <a:ext uri="{FF2B5EF4-FFF2-40B4-BE49-F238E27FC236}">
                <a16:creationId xmlns:a16="http://schemas.microsoft.com/office/drawing/2014/main" id="{7413067E-6C35-538A-0F4D-694ED96021A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694852" y="5391335"/>
            <a:ext cx="1198880" cy="1198880"/>
          </a:xfrm>
          <a:prstGeom prst="rect">
            <a:avLst/>
          </a:prstGeom>
        </p:spPr>
      </p:pic>
      <p:pic>
        <p:nvPicPr>
          <p:cNvPr id="2" name="Picture 1">
            <a:extLst>
              <a:ext uri="{FF2B5EF4-FFF2-40B4-BE49-F238E27FC236}">
                <a16:creationId xmlns:a16="http://schemas.microsoft.com/office/drawing/2014/main" id="{1730800F-FAB6-D47D-41C2-29C4D5E9294D}"/>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17924" y="-4221"/>
            <a:ext cx="2551173" cy="1036907"/>
          </a:xfrm>
          <a:prstGeom prst="rect">
            <a:avLst/>
          </a:prstGeom>
        </p:spPr>
      </p:pic>
    </p:spTree>
    <p:extLst>
      <p:ext uri="{BB962C8B-B14F-4D97-AF65-F5344CB8AC3E}">
        <p14:creationId xmlns:p14="http://schemas.microsoft.com/office/powerpoint/2010/main" val="2165235614"/>
      </p:ext>
    </p:extLst>
  </p:cSld>
  <p:clrMapOvr>
    <a:masterClrMapping/>
  </p:clrMapOvr>
  <p:hf hd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theme" Target="../theme/theme1.xml"/><Relationship Id="rId59" Type="http://schemas.openxmlformats.org/officeDocument/2006/relationships/tags" Target="../tags/tag2.xml"/><Relationship Id="rId60" Type="http://schemas.openxmlformats.org/officeDocument/2006/relationships/oleObject" Target="../embeddings/oleObject1.bin"/><Relationship Id="rId61"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59"/>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60" imgW="270" imgH="270" progId="TCLayout.ActiveDocument.1">
                  <p:embed/>
                </p:oleObj>
              </mc:Choice>
              <mc:Fallback>
                <p:oleObj name="think-cell Slide" r:id="rId60" imgW="270" imgH="270" progId="TCLayout.ActiveDocument.1">
                  <p:embed/>
                  <p:pic>
                    <p:nvPicPr>
                      <p:cNvPr id="4" name="Object 3" hidden="1"/>
                      <p:cNvPicPr/>
                      <p:nvPr/>
                    </p:nvPicPr>
                    <p:blipFill>
                      <a:blip r:embed="rId61"/>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7200" y="345664"/>
            <a:ext cx="11274552" cy="340136"/>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5" name="CaseCode"/>
          <p:cNvSpPr txBox="1"/>
          <p:nvPr/>
        </p:nvSpPr>
        <p:spPr>
          <a:xfrm>
            <a:off x="6335184" y="6519672"/>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Presentation title</a:t>
            </a:r>
            <a:br>
              <a:rPr lang="en-US" sz="800" noProof="0" dirty="0">
                <a:solidFill>
                  <a:srgbClr val="75787B"/>
                </a:solidFill>
                <a:latin typeface="Aptos" panose="020B0004020202020204" pitchFamily="34" charset="0"/>
                <a:cs typeface="Calibri" panose="020F0502020204030204" pitchFamily="34" charset="0"/>
              </a:rPr>
            </a:br>
            <a:r>
              <a:rPr lang="en-US" sz="800" noProof="0" dirty="0">
                <a:solidFill>
                  <a:srgbClr val="75787B"/>
                </a:solidFill>
                <a:latin typeface="Aptos" panose="020B0004020202020204" pitchFamily="34" charset="0"/>
                <a:cs typeface="Calibri" panose="020F0502020204030204" pitchFamily="34" charset="0"/>
              </a:rPr>
              <a:t>[To edit, click View &gt; Slide Master &gt; Slide Master]</a:t>
            </a:r>
          </a:p>
        </p:txBody>
      </p:sp>
      <p:sp>
        <p:nvSpPr>
          <p:cNvPr id="18" name="Copyright"/>
          <p:cNvSpPr txBox="1"/>
          <p:nvPr/>
        </p:nvSpPr>
        <p:spPr>
          <a:xfrm>
            <a:off x="457200" y="6519672"/>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dirty="0">
                <a:solidFill>
                  <a:srgbClr val="75787B"/>
                </a:solidFill>
                <a:latin typeface="Aptos" panose="020B0004020202020204" pitchFamily="34" charset="0"/>
                <a:cs typeface="Calibri" panose="020F0502020204030204" pitchFamily="34" charset="0"/>
              </a:rPr>
              <a:t>Member firms and DTTL: Insert appropriate copyright</a:t>
            </a:r>
            <a:br>
              <a:rPr lang="en-US" sz="800" noProof="0" dirty="0">
                <a:solidFill>
                  <a:srgbClr val="75787B"/>
                </a:solidFill>
                <a:latin typeface="Aptos" panose="020B0004020202020204" pitchFamily="34" charset="0"/>
                <a:cs typeface="Calibri" panose="020F0502020204030204" pitchFamily="34" charset="0"/>
              </a:rPr>
            </a:br>
            <a:r>
              <a:rPr lang="en-US" sz="800" noProof="0" dirty="0">
                <a:solidFill>
                  <a:srgbClr val="75787B"/>
                </a:solidFill>
                <a:latin typeface="Aptos" panose="020B0004020202020204" pitchFamily="34" charset="0"/>
                <a:cs typeface="Calibri" panose="020F0502020204030204" pitchFamily="34" charset="0"/>
              </a:rPr>
              <a:t>[To edit, click View &gt; Slide Master &gt; Slide Master]</a:t>
            </a:r>
          </a:p>
        </p:txBody>
      </p:sp>
      <p:sp>
        <p:nvSpPr>
          <p:cNvPr id="19" name="Text Placeholder 18"/>
          <p:cNvSpPr>
            <a:spLocks noGrp="1"/>
          </p:cNvSpPr>
          <p:nvPr>
            <p:ph type="body" idx="1"/>
          </p:nvPr>
        </p:nvSpPr>
        <p:spPr>
          <a:xfrm>
            <a:off x="460093" y="1679602"/>
            <a:ext cx="11274552" cy="466191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p:nvSpPr>
        <p:spPr>
          <a:xfrm>
            <a:off x="11426826" y="6519672"/>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rgbClr val="75787B"/>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dirty="0">
              <a:solidFill>
                <a:srgbClr val="75787B"/>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83617170"/>
      </p:ext>
    </p:extLst>
  </p:cSld>
  <p:clrMap bg1="lt1" tx1="dk1" bg2="lt2" tx2="dk2" accent1="accent1" accent2="accent2" accent3="accent3" accent4="accent4" accent5="accent5" accent6="accent6" hlink="hlink" folHlink="folHlink"/>
  <p:sldLayoutIdLst>
    <p:sldLayoutId id="2147484411" r:id="rId1"/>
    <p:sldLayoutId id="2147484412" r:id="rId2"/>
    <p:sldLayoutId id="2147484413" r:id="rId3"/>
    <p:sldLayoutId id="2147484414" r:id="rId4"/>
    <p:sldLayoutId id="2147484415" r:id="rId5"/>
    <p:sldLayoutId id="2147484416" r:id="rId6"/>
    <p:sldLayoutId id="2147484417" r:id="rId7"/>
    <p:sldLayoutId id="2147484418" r:id="rId8"/>
    <p:sldLayoutId id="2147484419" r:id="rId9"/>
    <p:sldLayoutId id="2147484420" r:id="rId10"/>
    <p:sldLayoutId id="2147484421" r:id="rId11"/>
    <p:sldLayoutId id="2147484422" r:id="rId12"/>
    <p:sldLayoutId id="2147484423" r:id="rId13"/>
    <p:sldLayoutId id="2147484424" r:id="rId14"/>
    <p:sldLayoutId id="2147484425" r:id="rId15"/>
    <p:sldLayoutId id="2147484426" r:id="rId16"/>
    <p:sldLayoutId id="2147484427" r:id="rId17"/>
    <p:sldLayoutId id="2147484428" r:id="rId18"/>
    <p:sldLayoutId id="2147484429" r:id="rId19"/>
    <p:sldLayoutId id="2147484430" r:id="rId20"/>
    <p:sldLayoutId id="2147484431" r:id="rId21"/>
    <p:sldLayoutId id="2147484432" r:id="rId22"/>
    <p:sldLayoutId id="2147484433" r:id="rId23"/>
    <p:sldLayoutId id="2147484434" r:id="rId24"/>
    <p:sldLayoutId id="2147484435" r:id="rId25"/>
    <p:sldLayoutId id="2147484436" r:id="rId26"/>
    <p:sldLayoutId id="2147484437" r:id="rId27"/>
    <p:sldLayoutId id="2147484438" r:id="rId28"/>
    <p:sldLayoutId id="2147484439" r:id="rId29"/>
    <p:sldLayoutId id="2147484440" r:id="rId30"/>
    <p:sldLayoutId id="2147484441" r:id="rId31"/>
    <p:sldLayoutId id="2147484442" r:id="rId32"/>
    <p:sldLayoutId id="2147484443" r:id="rId33"/>
    <p:sldLayoutId id="2147484444" r:id="rId34"/>
    <p:sldLayoutId id="2147484445" r:id="rId35"/>
    <p:sldLayoutId id="2147484446" r:id="rId36"/>
    <p:sldLayoutId id="2147484447" r:id="rId37"/>
    <p:sldLayoutId id="2147484448" r:id="rId38"/>
    <p:sldLayoutId id="2147484449" r:id="rId39"/>
    <p:sldLayoutId id="2147484450" r:id="rId40"/>
    <p:sldLayoutId id="2147484460" r:id="rId41"/>
    <p:sldLayoutId id="2147484461" r:id="rId42"/>
    <p:sldLayoutId id="2147484462" r:id="rId43"/>
    <p:sldLayoutId id="2147484463" r:id="rId44"/>
    <p:sldLayoutId id="2147484464" r:id="rId45"/>
    <p:sldLayoutId id="2147484465" r:id="rId46"/>
    <p:sldLayoutId id="2147484466" r:id="rId47"/>
    <p:sldLayoutId id="2147484467" r:id="rId48"/>
    <p:sldLayoutId id="2147484451" r:id="rId49"/>
    <p:sldLayoutId id="2147484452" r:id="rId50"/>
    <p:sldLayoutId id="2147484453" r:id="rId51"/>
    <p:sldLayoutId id="2147484454" r:id="rId52"/>
    <p:sldLayoutId id="2147484455" r:id="rId53"/>
    <p:sldLayoutId id="2147484456" r:id="rId54"/>
    <p:sldLayoutId id="2147484457" r:id="rId55"/>
    <p:sldLayoutId id="2147484458" r:id="rId56"/>
    <p:sldLayoutId id="2147484459" r:id="rId57"/>
  </p:sldLayoutIdLst>
  <p:transition>
    <p:fade/>
  </p:transition>
  <p:hf hdr="0" dt="0"/>
  <p:txStyles>
    <p:title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95" pos="3936" userDrawn="1">
          <p15:clr>
            <a:srgbClr val="F26B43"/>
          </p15:clr>
        </p15:guide>
        <p15:guide id="96" orient="horz" pos="4008" userDrawn="1">
          <p15:clr>
            <a:srgbClr val="F26B43"/>
          </p15:clr>
        </p15:guide>
        <p15:guide id="97" orient="horz" pos="4104" userDrawn="1">
          <p15:clr>
            <a:srgbClr val="F26B43"/>
          </p15:clr>
        </p15:guide>
        <p15:guide id="98" orient="horz" pos="1056" userDrawn="1">
          <p15:clr>
            <a:srgbClr val="F26B43"/>
          </p15:clr>
        </p15:guide>
        <p15:guide id="99" pos="3840" userDrawn="1">
          <p15:clr>
            <a:srgbClr val="F26B43"/>
          </p15:clr>
        </p15:guide>
        <p15:guide id="100" pos="7392" userDrawn="1">
          <p15:clr>
            <a:srgbClr val="F26B43"/>
          </p15:clr>
        </p15:guide>
        <p15:guide id="101" orient="horz" pos="216" userDrawn="1">
          <p15:clr>
            <a:srgbClr val="F26B43"/>
          </p15:clr>
        </p15:guide>
        <p15:guide id="102" orient="horz" pos="432" userDrawn="1">
          <p15:clr>
            <a:srgbClr val="F26B43"/>
          </p15:clr>
        </p15:guide>
        <p15:guide id="103" pos="288" userDrawn="1">
          <p15:clr>
            <a:srgbClr val="F26B43"/>
          </p15:clr>
        </p15:guide>
        <p15:guide id="104" pos="374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latin typeface="Aptos"/>
              </a:rPr>
              <a:t>Securing the Agentic Enterprise</a:t>
            </a:r>
          </a:p>
        </p:txBody>
      </p:sp>
      <p:sp>
        <p:nvSpPr>
          <p:cNvPr id="3" name="Text Placeholder 2"/>
          <p:cNvSpPr>
            <a:spLocks noGrp="1"/>
          </p:cNvSpPr>
          <p:nvPr>
            <p:ph type="body" idx="10" sz="quarter"/>
          </p:nvPr>
        </p:nvSpPr>
        <p:spPr/>
        <p:txBody>
          <a:bodyPr/>
          <a:lstStyle/>
          <a:p>
            <a:r>
              <a:rPr>
                <a:latin typeface="Aptos"/>
              </a:rPr>
              <a:t>Identity-Preserving MCP with OAuth On-Behalf-Of Token Exchange</a:t>
            </a:r>
          </a:p>
        </p:txBody>
      </p:sp>
      <p:pic>
        <p:nvPicPr>
          <p:cNvPr id="4" name="Picture Placeholder 3" descr="GettyImages-1148091793.jpg"/>
          <p:cNvPicPr>
            <a:picLocks noGrp="1" noChangeAspect="1"/>
          </p:cNvPicPr>
          <p:nvPr>
            <p:ph type="pic" idx="11" sz="quarter"/>
          </p:nvPr>
        </p:nvPicPr>
        <p:blipFill>
          <a:blip r:embed="rId2"/>
          <a:srcRect l="21875" r="21875"/>
          <a:stretch>
            <a:fillRect/>
          </a:stretch>
        </p:blipFill>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4552" cy="502920"/>
          </a:xfrm>
          <a:prstGeom prst="rect">
            <a:avLst/>
          </a:prstGeom>
          <a:noFill/>
        </p:spPr>
        <p:txBody>
          <a:bodyPr wrap="square">
            <a:spAutoFit/>
          </a:bodyPr>
          <a:lstStyle/>
          <a:p>
            <a:pPr algn="l"/>
            <a:r>
              <a:rPr sz="2200" b="1">
                <a:solidFill>
                  <a:srgbClr val="FFFFFF"/>
                </a:solidFill>
                <a:latin typeface="Aptos"/>
              </a:rPr>
              <a:t>AI Agents Are Proliferating — And Almost No One Knows Who They're Acting As</a:t>
            </a:r>
          </a:p>
        </p:txBody>
      </p:sp>
      <p:sp>
        <p:nvSpPr>
          <p:cNvPr id="4" name="TextBox 3"/>
          <p:cNvSpPr txBox="1"/>
          <p:nvPr/>
        </p:nvSpPr>
        <p:spPr>
          <a:xfrm>
            <a:off x="457200" y="713232"/>
            <a:ext cx="11274552" cy="329184"/>
          </a:xfrm>
          <a:prstGeom prst="rect">
            <a:avLst/>
          </a:prstGeom>
          <a:noFill/>
        </p:spPr>
        <p:txBody>
          <a:bodyPr wrap="square">
            <a:spAutoFit/>
          </a:bodyPr>
          <a:lstStyle/>
          <a:p>
            <a:pPr algn="l"/>
            <a:r>
              <a:rPr sz="1200" b="0">
                <a:solidFill>
                  <a:srgbClr val="C0C0C0"/>
                </a:solidFill>
                <a:latin typeface="Aptos"/>
              </a:rPr>
              <a:t>Agentic AI is moving faster than the identity infrastructure designed to govern it</a:t>
            </a:r>
          </a:p>
        </p:txBody>
      </p:sp>
      <p:sp>
        <p:nvSpPr>
          <p:cNvPr id="5" name="Rectangle 4"/>
          <p:cNvSpPr/>
          <p:nvPr/>
        </p:nvSpPr>
        <p:spPr>
          <a:xfrm>
            <a:off x="457200" y="1188720"/>
            <a:ext cx="3547872"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457200" y="1243584"/>
            <a:ext cx="3547872" cy="15544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3364992" cy="749808"/>
          </a:xfrm>
          <a:prstGeom prst="rect">
            <a:avLst/>
          </a:prstGeom>
          <a:noFill/>
        </p:spPr>
        <p:txBody>
          <a:bodyPr wrap="square">
            <a:spAutoFit/>
          </a:bodyPr>
          <a:lstStyle/>
          <a:p>
            <a:pPr algn="ctr"/>
            <a:r>
              <a:rPr sz="4200" b="1">
                <a:solidFill>
                  <a:srgbClr val="86BC25"/>
                </a:solidFill>
                <a:latin typeface="Aptos"/>
              </a:rPr>
              <a:t>88%</a:t>
            </a:r>
          </a:p>
        </p:txBody>
      </p:sp>
      <p:sp>
        <p:nvSpPr>
          <p:cNvPr id="8" name="TextBox 7"/>
          <p:cNvSpPr txBox="1"/>
          <p:nvPr/>
        </p:nvSpPr>
        <p:spPr>
          <a:xfrm>
            <a:off x="548640" y="2011680"/>
            <a:ext cx="3364992" cy="438912"/>
          </a:xfrm>
          <a:prstGeom prst="rect">
            <a:avLst/>
          </a:prstGeom>
          <a:noFill/>
        </p:spPr>
        <p:txBody>
          <a:bodyPr wrap="square">
            <a:spAutoFit/>
          </a:bodyPr>
          <a:lstStyle/>
          <a:p>
            <a:pPr algn="ctr"/>
            <a:r>
              <a:rPr sz="1000" b="0">
                <a:solidFill>
                  <a:srgbClr val="FFFFFF"/>
                </a:solidFill>
                <a:latin typeface="Aptos"/>
              </a:rPr>
              <a:t>of enterprises reported AI agent security incidents last year</a:t>
            </a:r>
          </a:p>
        </p:txBody>
      </p:sp>
      <p:sp>
        <p:nvSpPr>
          <p:cNvPr id="9" name="TextBox 8"/>
          <p:cNvSpPr txBox="1"/>
          <p:nvPr/>
        </p:nvSpPr>
        <p:spPr>
          <a:xfrm>
            <a:off x="548640" y="2450592"/>
            <a:ext cx="3364992" cy="228600"/>
          </a:xfrm>
          <a:prstGeom prst="rect">
            <a:avLst/>
          </a:prstGeom>
          <a:noFill/>
        </p:spPr>
        <p:txBody>
          <a:bodyPr wrap="square">
            <a:spAutoFit/>
          </a:bodyPr>
          <a:lstStyle/>
          <a:p>
            <a:pPr algn="ctr"/>
            <a:r>
              <a:rPr sz="800" b="0">
                <a:solidFill>
                  <a:srgbClr val="75787B"/>
                </a:solidFill>
                <a:latin typeface="Aptos"/>
              </a:rPr>
              <a:t>Source: VentureBeat / Gravitee Survey, 2025</a:t>
            </a:r>
          </a:p>
        </p:txBody>
      </p:sp>
      <p:sp>
        <p:nvSpPr>
          <p:cNvPr id="10" name="Rectangle 9"/>
          <p:cNvSpPr/>
          <p:nvPr/>
        </p:nvSpPr>
        <p:spPr>
          <a:xfrm>
            <a:off x="4325112" y="1188720"/>
            <a:ext cx="3547872" cy="54864"/>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5112" y="1243584"/>
            <a:ext cx="3547872" cy="15544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16552" y="1280160"/>
            <a:ext cx="3364992" cy="749808"/>
          </a:xfrm>
          <a:prstGeom prst="rect">
            <a:avLst/>
          </a:prstGeom>
          <a:noFill/>
        </p:spPr>
        <p:txBody>
          <a:bodyPr wrap="square">
            <a:spAutoFit/>
          </a:bodyPr>
          <a:lstStyle/>
          <a:p>
            <a:pPr algn="ctr"/>
            <a:r>
              <a:rPr sz="4200" b="1">
                <a:solidFill>
                  <a:srgbClr val="0D8390"/>
                </a:solidFill>
                <a:latin typeface="Aptos"/>
              </a:rPr>
              <a:t>45.6%</a:t>
            </a:r>
          </a:p>
        </p:txBody>
      </p:sp>
      <p:sp>
        <p:nvSpPr>
          <p:cNvPr id="13" name="TextBox 12"/>
          <p:cNvSpPr txBox="1"/>
          <p:nvPr/>
        </p:nvSpPr>
        <p:spPr>
          <a:xfrm>
            <a:off x="4416552" y="2011680"/>
            <a:ext cx="3364992" cy="438912"/>
          </a:xfrm>
          <a:prstGeom prst="rect">
            <a:avLst/>
          </a:prstGeom>
          <a:noFill/>
        </p:spPr>
        <p:txBody>
          <a:bodyPr wrap="square">
            <a:spAutoFit/>
          </a:bodyPr>
          <a:lstStyle/>
          <a:p>
            <a:pPr algn="ctr"/>
            <a:r>
              <a:rPr sz="1000" b="0">
                <a:solidFill>
                  <a:srgbClr val="FFFFFF"/>
                </a:solidFill>
                <a:latin typeface="Aptos"/>
              </a:rPr>
              <a:t>of AI teams still rely on shared API keys for agent authentication</a:t>
            </a:r>
          </a:p>
        </p:txBody>
      </p:sp>
      <p:sp>
        <p:nvSpPr>
          <p:cNvPr id="14" name="TextBox 13"/>
          <p:cNvSpPr txBox="1"/>
          <p:nvPr/>
        </p:nvSpPr>
        <p:spPr>
          <a:xfrm>
            <a:off x="4416552" y="2450592"/>
            <a:ext cx="3364992" cy="228600"/>
          </a:xfrm>
          <a:prstGeom prst="rect">
            <a:avLst/>
          </a:prstGeom>
          <a:noFill/>
        </p:spPr>
        <p:txBody>
          <a:bodyPr wrap="square">
            <a:spAutoFit/>
          </a:bodyPr>
          <a:lstStyle/>
          <a:p>
            <a:pPr algn="ctr"/>
            <a:r>
              <a:rPr sz="800" b="0">
                <a:solidFill>
                  <a:srgbClr val="75787B"/>
                </a:solidFill>
                <a:latin typeface="Aptos"/>
              </a:rPr>
              <a:t>Source: Gravitee Agentic AI Survey, 2025</a:t>
            </a:r>
          </a:p>
        </p:txBody>
      </p:sp>
      <p:sp>
        <p:nvSpPr>
          <p:cNvPr id="15" name="Rectangle 14"/>
          <p:cNvSpPr/>
          <p:nvPr/>
        </p:nvSpPr>
        <p:spPr>
          <a:xfrm>
            <a:off x="8193024" y="1188720"/>
            <a:ext cx="3547872" cy="54864"/>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93024" y="1243584"/>
            <a:ext cx="3547872" cy="15544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4464" y="1280160"/>
            <a:ext cx="3364992" cy="749808"/>
          </a:xfrm>
          <a:prstGeom prst="rect">
            <a:avLst/>
          </a:prstGeom>
          <a:noFill/>
        </p:spPr>
        <p:txBody>
          <a:bodyPr wrap="square">
            <a:spAutoFit/>
          </a:bodyPr>
          <a:lstStyle/>
          <a:p>
            <a:pPr algn="ctr"/>
            <a:r>
              <a:rPr sz="4200" b="1">
                <a:solidFill>
                  <a:srgbClr val="0076A8"/>
                </a:solidFill>
                <a:latin typeface="Aptos"/>
              </a:rPr>
              <a:t>30+</a:t>
            </a:r>
          </a:p>
        </p:txBody>
      </p:sp>
      <p:sp>
        <p:nvSpPr>
          <p:cNvPr id="18" name="TextBox 17"/>
          <p:cNvSpPr txBox="1"/>
          <p:nvPr/>
        </p:nvSpPr>
        <p:spPr>
          <a:xfrm>
            <a:off x="8284464" y="2011680"/>
            <a:ext cx="3364992" cy="438912"/>
          </a:xfrm>
          <a:prstGeom prst="rect">
            <a:avLst/>
          </a:prstGeom>
          <a:noFill/>
        </p:spPr>
        <p:txBody>
          <a:bodyPr wrap="square">
            <a:spAutoFit/>
          </a:bodyPr>
          <a:lstStyle/>
          <a:p>
            <a:pPr algn="ctr"/>
            <a:r>
              <a:rPr sz="1000" b="0">
                <a:solidFill>
                  <a:srgbClr val="FFFFFF"/>
                </a:solidFill>
                <a:latin typeface="Aptos"/>
              </a:rPr>
              <a:t>MCP-related CVEs disclosed in first two months of 2026</a:t>
            </a:r>
          </a:p>
        </p:txBody>
      </p:sp>
      <p:sp>
        <p:nvSpPr>
          <p:cNvPr id="19" name="TextBox 18"/>
          <p:cNvSpPr txBox="1"/>
          <p:nvPr/>
        </p:nvSpPr>
        <p:spPr>
          <a:xfrm>
            <a:off x="8284464" y="2450592"/>
            <a:ext cx="3364992" cy="228600"/>
          </a:xfrm>
          <a:prstGeom prst="rect">
            <a:avLst/>
          </a:prstGeom>
          <a:noFill/>
        </p:spPr>
        <p:txBody>
          <a:bodyPr wrap="square">
            <a:spAutoFit/>
          </a:bodyPr>
          <a:lstStyle/>
          <a:p>
            <a:pPr algn="ctr"/>
            <a:r>
              <a:rPr sz="800" b="0">
                <a:solidFill>
                  <a:srgbClr val="75787B"/>
                </a:solidFill>
                <a:latin typeface="Aptos"/>
              </a:rPr>
              <a:t>Source: Cloud Security Alliance, May 2026</a:t>
            </a:r>
          </a:p>
        </p:txBody>
      </p:sp>
      <p:sp>
        <p:nvSpPr>
          <p:cNvPr id="20" name="Rectangle 19"/>
          <p:cNvSpPr/>
          <p:nvPr/>
        </p:nvSpPr>
        <p:spPr>
          <a:xfrm>
            <a:off x="457200" y="2834640"/>
            <a:ext cx="3547872" cy="402336"/>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2880360"/>
            <a:ext cx="3364992" cy="310896"/>
          </a:xfrm>
          <a:prstGeom prst="rect">
            <a:avLst/>
          </a:prstGeom>
          <a:noFill/>
        </p:spPr>
        <p:txBody>
          <a:bodyPr wrap="square">
            <a:spAutoFit/>
          </a:bodyPr>
          <a:lstStyle/>
          <a:p>
            <a:pPr algn="l"/>
            <a:r>
              <a:rPr sz="1100" b="1">
                <a:solidFill>
                  <a:srgbClr val="FFFFFF"/>
                </a:solidFill>
                <a:latin typeface="Aptos"/>
              </a:rPr>
              <a:t>No User Identity Propagation</a:t>
            </a:r>
          </a:p>
        </p:txBody>
      </p:sp>
      <p:sp>
        <p:nvSpPr>
          <p:cNvPr id="22" name="TextBox 21"/>
          <p:cNvSpPr txBox="1"/>
          <p:nvPr/>
        </p:nvSpPr>
        <p:spPr>
          <a:xfrm>
            <a:off x="548640" y="3273552"/>
            <a:ext cx="3364992" cy="868680"/>
          </a:xfrm>
          <a:prstGeom prst="rect">
            <a:avLst/>
          </a:prstGeom>
          <a:noFill/>
        </p:spPr>
        <p:txBody>
          <a:bodyPr wrap="square">
            <a:spAutoFit/>
          </a:bodyPr>
          <a:lstStyle/>
          <a:p>
            <a:pPr algn="l"/>
            <a:r>
              <a:rPr sz="1000" b="0">
                <a:solidFill>
                  <a:srgbClr val="FFFFFF"/>
                </a:solidFill>
                <a:latin typeface="Aptos"/>
              </a:rPr>
              <a:t>Agents authenticate as themselves — not the user. Actions cannot be attributed to the person who initiated them.</a:t>
            </a:r>
          </a:p>
        </p:txBody>
      </p:sp>
      <p:sp>
        <p:nvSpPr>
          <p:cNvPr id="23" name="Rectangle 22"/>
          <p:cNvSpPr/>
          <p:nvPr/>
        </p:nvSpPr>
        <p:spPr>
          <a:xfrm>
            <a:off x="4325112" y="2834640"/>
            <a:ext cx="3547872" cy="402336"/>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16552" y="2880360"/>
            <a:ext cx="3364992" cy="310896"/>
          </a:xfrm>
          <a:prstGeom prst="rect">
            <a:avLst/>
          </a:prstGeom>
          <a:noFill/>
        </p:spPr>
        <p:txBody>
          <a:bodyPr wrap="square">
            <a:spAutoFit/>
          </a:bodyPr>
          <a:lstStyle/>
          <a:p>
            <a:pPr algn="l"/>
            <a:r>
              <a:rPr sz="1100" b="1">
                <a:solidFill>
                  <a:srgbClr val="FFFFFF"/>
                </a:solidFill>
                <a:latin typeface="Aptos"/>
              </a:rPr>
              <a:t>Over-Privileged Credentials</a:t>
            </a:r>
          </a:p>
        </p:txBody>
      </p:sp>
      <p:sp>
        <p:nvSpPr>
          <p:cNvPr id="25" name="TextBox 24"/>
          <p:cNvSpPr txBox="1"/>
          <p:nvPr/>
        </p:nvSpPr>
        <p:spPr>
          <a:xfrm>
            <a:off x="4416552" y="3273552"/>
            <a:ext cx="3364992" cy="868680"/>
          </a:xfrm>
          <a:prstGeom prst="rect">
            <a:avLst/>
          </a:prstGeom>
          <a:noFill/>
        </p:spPr>
        <p:txBody>
          <a:bodyPr wrap="square">
            <a:spAutoFit/>
          </a:bodyPr>
          <a:lstStyle/>
          <a:p>
            <a:pPr algn="l"/>
            <a:r>
              <a:rPr sz="1000" b="0">
                <a:solidFill>
                  <a:srgbClr val="FFFFFF"/>
                </a:solidFill>
                <a:latin typeface="Aptos"/>
              </a:rPr>
              <a:t>Client credentials grant god-mode access. One compromised key exposes every user's data system-wide.</a:t>
            </a:r>
          </a:p>
        </p:txBody>
      </p:sp>
      <p:sp>
        <p:nvSpPr>
          <p:cNvPr id="26" name="Rectangle 25"/>
          <p:cNvSpPr/>
          <p:nvPr/>
        </p:nvSpPr>
        <p:spPr>
          <a:xfrm>
            <a:off x="8193024" y="2834640"/>
            <a:ext cx="3547872" cy="402336"/>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84464" y="2880360"/>
            <a:ext cx="3364992" cy="310896"/>
          </a:xfrm>
          <a:prstGeom prst="rect">
            <a:avLst/>
          </a:prstGeom>
          <a:noFill/>
        </p:spPr>
        <p:txBody>
          <a:bodyPr wrap="square">
            <a:spAutoFit/>
          </a:bodyPr>
          <a:lstStyle/>
          <a:p>
            <a:pPr algn="l"/>
            <a:r>
              <a:rPr sz="1100" b="1">
                <a:solidFill>
                  <a:srgbClr val="FFFFFF"/>
                </a:solidFill>
                <a:latin typeface="Aptos"/>
              </a:rPr>
              <a:t>Zero Audit Trail</a:t>
            </a:r>
          </a:p>
        </p:txBody>
      </p:sp>
      <p:sp>
        <p:nvSpPr>
          <p:cNvPr id="28" name="TextBox 27"/>
          <p:cNvSpPr txBox="1"/>
          <p:nvPr/>
        </p:nvSpPr>
        <p:spPr>
          <a:xfrm>
            <a:off x="8284464" y="3273552"/>
            <a:ext cx="3364992" cy="868680"/>
          </a:xfrm>
          <a:prstGeom prst="rect">
            <a:avLst/>
          </a:prstGeom>
          <a:noFill/>
        </p:spPr>
        <p:txBody>
          <a:bodyPr wrap="square">
            <a:spAutoFit/>
          </a:bodyPr>
          <a:lstStyle/>
          <a:p>
            <a:pPr algn="l"/>
            <a:r>
              <a:rPr sz="1000" b="0">
                <a:solidFill>
                  <a:srgbClr val="FFFFFF"/>
                </a:solidFill>
                <a:latin typeface="Aptos"/>
              </a:rPr>
              <a:t>No log can reconstruct which user triggered an action, what scope was granted, or whether the agent exceeded its mandate.</a:t>
            </a:r>
          </a:p>
        </p:txBody>
      </p:sp>
      <p:sp>
        <p:nvSpPr>
          <p:cNvPr id="29" name="Rectangle 28"/>
          <p:cNvSpPr/>
          <p:nvPr/>
        </p:nvSpPr>
        <p:spPr>
          <a:xfrm>
            <a:off x="0" y="4297680"/>
            <a:ext cx="12188952" cy="685800"/>
          </a:xfrm>
          <a:prstGeom prst="rect">
            <a:avLst/>
          </a:prstGeom>
          <a:solidFill>
            <a:srgbClr val="1C3D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4370832"/>
            <a:ext cx="11274552" cy="539496"/>
          </a:xfrm>
          <a:prstGeom prst="rect">
            <a:avLst/>
          </a:prstGeom>
          <a:noFill/>
        </p:spPr>
        <p:txBody>
          <a:bodyPr wrap="square">
            <a:spAutoFit/>
          </a:bodyPr>
          <a:lstStyle/>
          <a:p>
            <a:pPr algn="ctr"/>
            <a:r>
              <a:rPr sz="1000" b="1">
                <a:solidFill>
                  <a:srgbClr val="FFFFFF"/>
                </a:solidFill>
                <a:latin typeface="Aptos"/>
              </a:rPr>
              <a:t>The AI agent era demands a new identity contract — where every action is traceable to a specific human, bounded by that person's grants, and enforced at the protocol layer.</a:t>
            </a:r>
          </a:p>
        </p:txBody>
      </p:sp>
      <p:sp>
        <p:nvSpPr>
          <p:cNvPr id="31" name="TextBox 30"/>
          <p:cNvSpPr txBox="1"/>
          <p:nvPr/>
        </p:nvSpPr>
        <p:spPr>
          <a:xfrm>
            <a:off x="457200" y="5065776"/>
            <a:ext cx="11274552" cy="228600"/>
          </a:xfrm>
          <a:prstGeom prst="rect">
            <a:avLst/>
          </a:prstGeom>
          <a:noFill/>
        </p:spPr>
        <p:txBody>
          <a:bodyPr wrap="square">
            <a:spAutoFit/>
          </a:bodyPr>
          <a:lstStyle/>
          <a:p>
            <a:pPr algn="l"/>
            <a:r>
              <a:rPr sz="800" b="0">
                <a:solidFill>
                  <a:srgbClr val="75787B"/>
                </a:solidFill>
                <a:latin typeface="Aptos"/>
              </a:rPr>
              <a:t>VentureBeat, 2025; Gravitee Agentic AI Survey, 2025; Cloud Security Alliance MCP Security Note, May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MCP Without Identity Controls Creates Systemic Risk</a:t>
            </a:r>
          </a:p>
        </p:txBody>
      </p:sp>
      <p:sp>
        <p:nvSpPr>
          <p:cNvPr id="3" name="Rectangle 2"/>
          <p:cNvSpPr/>
          <p:nvPr/>
        </p:nvSpPr>
        <p:spPr>
          <a:xfrm>
            <a:off x="457200" y="1682496"/>
            <a:ext cx="3547872" cy="438912"/>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728216"/>
            <a:ext cx="3364992" cy="347472"/>
          </a:xfrm>
          <a:prstGeom prst="rect">
            <a:avLst/>
          </a:prstGeom>
          <a:noFill/>
        </p:spPr>
        <p:txBody>
          <a:bodyPr wrap="square">
            <a:spAutoFit/>
          </a:bodyPr>
          <a:lstStyle/>
          <a:p>
            <a:pPr algn="l"/>
            <a:r>
              <a:rPr sz="1100" b="1">
                <a:solidFill>
                  <a:srgbClr val="FFFFFF"/>
                </a:solidFill>
                <a:latin typeface="Aptos"/>
              </a:rPr>
              <a:t>The Authentication Gap</a:t>
            </a:r>
          </a:p>
        </p:txBody>
      </p:sp>
      <p:sp>
        <p:nvSpPr>
          <p:cNvPr id="5" name="Rounded Rectangle 4"/>
          <p:cNvSpPr/>
          <p:nvPr/>
        </p:nvSpPr>
        <p:spPr>
          <a:xfrm>
            <a:off x="457200" y="2121408"/>
            <a:ext cx="3547872" cy="246888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212848"/>
            <a:ext cx="3328416" cy="2286000"/>
          </a:xfrm>
          <a:prstGeom prst="rect">
            <a:avLst/>
          </a:prstGeom>
          <a:noFill/>
        </p:spPr>
        <p:txBody>
          <a:bodyPr wrap="square">
            <a:spAutoFit/>
          </a:bodyPr>
          <a:lstStyle/>
          <a:p>
            <a:pPr algn="l"/>
            <a:r>
              <a:rPr sz="1000" b="0">
                <a:solidFill>
                  <a:srgbClr val="000000"/>
                </a:solidFill>
                <a:latin typeface="Aptos"/>
              </a:rPr>
              <a:t>MCP authentication was optional until November 2025. A July 2025 scan found 1,862 MCP servers responding to unauthenticated requests — fully exposed with no identity requirement.</a:t>
            </a:r>
          </a:p>
        </p:txBody>
      </p:sp>
      <p:sp>
        <p:nvSpPr>
          <p:cNvPr id="7" name="Rectangle 6"/>
          <p:cNvSpPr/>
          <p:nvPr/>
        </p:nvSpPr>
        <p:spPr>
          <a:xfrm>
            <a:off x="4325112" y="1682496"/>
            <a:ext cx="3547872" cy="438912"/>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16552" y="1728216"/>
            <a:ext cx="3364992" cy="347472"/>
          </a:xfrm>
          <a:prstGeom prst="rect">
            <a:avLst/>
          </a:prstGeom>
          <a:noFill/>
        </p:spPr>
        <p:txBody>
          <a:bodyPr wrap="square">
            <a:spAutoFit/>
          </a:bodyPr>
          <a:lstStyle/>
          <a:p>
            <a:pPr algn="l"/>
            <a:r>
              <a:rPr sz="1100" b="1">
                <a:solidFill>
                  <a:srgbClr val="FFFFFF"/>
                </a:solidFill>
                <a:latin typeface="Aptos"/>
              </a:rPr>
              <a:t>The Credential Gap</a:t>
            </a:r>
          </a:p>
        </p:txBody>
      </p:sp>
      <p:sp>
        <p:nvSpPr>
          <p:cNvPr id="9" name="Rounded Rectangle 8"/>
          <p:cNvSpPr/>
          <p:nvPr/>
        </p:nvSpPr>
        <p:spPr>
          <a:xfrm>
            <a:off x="4325112" y="2121408"/>
            <a:ext cx="3547872" cy="246888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2212848"/>
            <a:ext cx="3328416" cy="2286000"/>
          </a:xfrm>
          <a:prstGeom prst="rect">
            <a:avLst/>
          </a:prstGeom>
          <a:noFill/>
        </p:spPr>
        <p:txBody>
          <a:bodyPr wrap="square">
            <a:spAutoFit/>
          </a:bodyPr>
          <a:lstStyle/>
          <a:p>
            <a:pPr algn="l"/>
            <a:r>
              <a:rPr sz="1000" b="0">
                <a:solidFill>
                  <a:srgbClr val="000000"/>
                </a:solidFill>
                <a:latin typeface="Aptos"/>
              </a:rPr>
              <a:t>Agents run with static API keys or long-lived client credentials — the highest-privilege grant. No scope reduction per call, no session binding, no expiry, no per-user isolation.</a:t>
            </a:r>
          </a:p>
        </p:txBody>
      </p:sp>
      <p:sp>
        <p:nvSpPr>
          <p:cNvPr id="11" name="Rectangle 10"/>
          <p:cNvSpPr/>
          <p:nvPr/>
        </p:nvSpPr>
        <p:spPr>
          <a:xfrm>
            <a:off x="8193024" y="1682496"/>
            <a:ext cx="3547872" cy="438912"/>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84464" y="1728216"/>
            <a:ext cx="3364992" cy="347472"/>
          </a:xfrm>
          <a:prstGeom prst="rect">
            <a:avLst/>
          </a:prstGeom>
          <a:noFill/>
        </p:spPr>
        <p:txBody>
          <a:bodyPr wrap="square">
            <a:spAutoFit/>
          </a:bodyPr>
          <a:lstStyle/>
          <a:p>
            <a:pPr algn="l"/>
            <a:r>
              <a:rPr sz="1100" b="1">
                <a:solidFill>
                  <a:srgbClr val="FFFFFF"/>
                </a:solidFill>
                <a:latin typeface="Aptos"/>
              </a:rPr>
              <a:t>The Attribution Gap</a:t>
            </a:r>
          </a:p>
        </p:txBody>
      </p:sp>
      <p:sp>
        <p:nvSpPr>
          <p:cNvPr id="13" name="Rounded Rectangle 12"/>
          <p:cNvSpPr/>
          <p:nvPr/>
        </p:nvSpPr>
        <p:spPr>
          <a:xfrm>
            <a:off x="8193024" y="2121408"/>
            <a:ext cx="3547872" cy="246888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2212848"/>
            <a:ext cx="3328416" cy="2286000"/>
          </a:xfrm>
          <a:prstGeom prst="rect">
            <a:avLst/>
          </a:prstGeom>
          <a:noFill/>
        </p:spPr>
        <p:txBody>
          <a:bodyPr wrap="square">
            <a:spAutoFit/>
          </a:bodyPr>
          <a:lstStyle/>
          <a:p>
            <a:pPr algn="l"/>
            <a:r>
              <a:rPr sz="1000" b="0">
                <a:solidFill>
                  <a:srgbClr val="000000"/>
                </a:solidFill>
                <a:latin typeface="Aptos"/>
              </a:rPr>
              <a:t>When an agent acts, logs record the agent — not the human it worked for. Regulatory requirements (GDPR, PSD2, SOX) demand knowing which person authorised each specific action.</a:t>
            </a:r>
          </a:p>
        </p:txBody>
      </p:sp>
      <p:sp>
        <p:nvSpPr>
          <p:cNvPr id="15" name="Rectangle 14"/>
          <p:cNvSpPr/>
          <p:nvPr/>
        </p:nvSpPr>
        <p:spPr>
          <a:xfrm>
            <a:off x="457200" y="4754880"/>
            <a:ext cx="11274552" cy="502920"/>
          </a:xfrm>
          <a:prstGeom prst="rect">
            <a:avLst/>
          </a:prstGeom>
          <a:solidFill>
            <a:srgbClr val="1C3D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818888"/>
            <a:ext cx="11091672" cy="374904"/>
          </a:xfrm>
          <a:prstGeom prst="rect">
            <a:avLst/>
          </a:prstGeom>
          <a:noFill/>
        </p:spPr>
        <p:txBody>
          <a:bodyPr wrap="square">
            <a:spAutoFit/>
          </a:bodyPr>
          <a:lstStyle/>
          <a:p>
            <a:pPr algn="ctr"/>
            <a:r>
              <a:rPr sz="1000" b="1">
                <a:solidFill>
                  <a:srgbClr val="FFFFFF"/>
                </a:solidFill>
                <a:latin typeface="Aptos"/>
              </a:rPr>
              <a:t>Result: Agents that act as nobody, with too much power, leaving no trace. A compliance and security failure by design.</a:t>
            </a:r>
          </a:p>
        </p:txBody>
      </p:sp>
      <p:sp>
        <p:nvSpPr>
          <p:cNvPr id="17" name="TextBox 16"/>
          <p:cNvSpPr txBox="1"/>
          <p:nvPr/>
        </p:nvSpPr>
        <p:spPr>
          <a:xfrm>
            <a:off x="457200" y="5669280"/>
            <a:ext cx="11274552" cy="228600"/>
          </a:xfrm>
          <a:prstGeom prst="rect">
            <a:avLst/>
          </a:prstGeom>
          <a:noFill/>
        </p:spPr>
        <p:txBody>
          <a:bodyPr wrap="square">
            <a:spAutoFit/>
          </a:bodyPr>
          <a:lstStyle/>
          <a:p>
            <a:pPr algn="l"/>
            <a:r>
              <a:rPr sz="800" b="0">
                <a:solidFill>
                  <a:srgbClr val="75787B"/>
                </a:solidFill>
                <a:latin typeface="Aptos"/>
              </a:rPr>
              <a:t>Cloud Security Alliance MCP Security Note, May 2026; Gravitee Agentic AI Survey, 2025; VentureBeat,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Introducing the MCP Virtual Server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74552" cy="502920"/>
          </a:xfrm>
          <a:prstGeom prst="rect">
            <a:avLst/>
          </a:prstGeom>
          <a:noFill/>
        </p:spPr>
        <p:txBody>
          <a:bodyPr wrap="square">
            <a:spAutoFit/>
          </a:bodyPr>
          <a:lstStyle/>
          <a:p>
            <a:pPr algn="l"/>
            <a:r>
              <a:rPr sz="2200" b="1">
                <a:solidFill>
                  <a:srgbClr val="FFFFFF"/>
                </a:solidFill>
                <a:latin typeface="Aptos"/>
              </a:rPr>
              <a:t>MCP Virtual Server: The Identity-Aware Gateway for Agentic AI</a:t>
            </a:r>
          </a:p>
        </p:txBody>
      </p:sp>
      <p:sp>
        <p:nvSpPr>
          <p:cNvPr id="4" name="TextBox 3"/>
          <p:cNvSpPr txBox="1"/>
          <p:nvPr/>
        </p:nvSpPr>
        <p:spPr>
          <a:xfrm>
            <a:off x="457200" y="713232"/>
            <a:ext cx="11274552" cy="329184"/>
          </a:xfrm>
          <a:prstGeom prst="rect">
            <a:avLst/>
          </a:prstGeom>
          <a:noFill/>
        </p:spPr>
        <p:txBody>
          <a:bodyPr wrap="square">
            <a:spAutoFit/>
          </a:bodyPr>
          <a:lstStyle/>
          <a:p>
            <a:pPr algn="l"/>
            <a:r>
              <a:rPr sz="1200" b="0">
                <a:solidFill>
                  <a:srgbClr val="C0C0C0"/>
                </a:solidFill>
                <a:latin typeface="Aptos"/>
              </a:rPr>
              <a:t>Four interlocking controls that preserve who the user is — from browser session to database action</a:t>
            </a:r>
          </a:p>
        </p:txBody>
      </p:sp>
      <p:sp>
        <p:nvSpPr>
          <p:cNvPr id="5" name="Oval 4"/>
          <p:cNvSpPr/>
          <p:nvPr/>
        </p:nvSpPr>
        <p:spPr>
          <a:xfrm>
            <a:off x="1298448" y="1280160"/>
            <a:ext cx="530352" cy="530352"/>
          </a:xfrm>
          <a:prstGeom prst="ellipse">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ptos"/>
              </a:rPr>
              <a:t>1</a:t>
            </a:r>
          </a:p>
        </p:txBody>
      </p:sp>
      <p:sp>
        <p:nvSpPr>
          <p:cNvPr id="6" name="Rectangle 5"/>
          <p:cNvSpPr/>
          <p:nvPr/>
        </p:nvSpPr>
        <p:spPr>
          <a:xfrm>
            <a:off x="155448" y="1920240"/>
            <a:ext cx="2816352" cy="54864"/>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5448" y="1975104"/>
            <a:ext cx="2816352" cy="23774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5176" y="2066543"/>
            <a:ext cx="2596896" cy="402336"/>
          </a:xfrm>
          <a:prstGeom prst="rect">
            <a:avLst/>
          </a:prstGeom>
          <a:noFill/>
        </p:spPr>
        <p:txBody>
          <a:bodyPr wrap="square">
            <a:spAutoFit/>
          </a:bodyPr>
          <a:lstStyle/>
          <a:p>
            <a:pPr algn="l"/>
            <a:r>
              <a:rPr sz="1100" b="1">
                <a:solidFill>
                  <a:srgbClr val="86BC25"/>
                </a:solidFill>
                <a:latin typeface="Aptos"/>
              </a:rPr>
              <a:t>Standards-Based Identity</a:t>
            </a:r>
          </a:p>
        </p:txBody>
      </p:sp>
      <p:sp>
        <p:nvSpPr>
          <p:cNvPr id="9" name="TextBox 8"/>
          <p:cNvSpPr txBox="1"/>
          <p:nvPr/>
        </p:nvSpPr>
        <p:spPr>
          <a:xfrm>
            <a:off x="265176" y="2505456"/>
            <a:ext cx="2596896" cy="1737360"/>
          </a:xfrm>
          <a:prstGeom prst="rect">
            <a:avLst/>
          </a:prstGeom>
          <a:noFill/>
        </p:spPr>
        <p:txBody>
          <a:bodyPr wrap="square">
            <a:spAutoFit/>
          </a:bodyPr>
          <a:lstStyle/>
          <a:p>
            <a:pPr algn="l"/>
            <a:r>
              <a:rPr sz="1000" b="0">
                <a:solidFill>
                  <a:srgbClr val="FFFFFF"/>
                </a:solidFill>
                <a:latin typeface="Aptos"/>
              </a:rPr>
              <a:t>RFC 8693 token exchange (OAuth 2.0 OBO). Compatible with any compliant IdP — Okta, Azure AD, Ping Identity. No proprietary protocols. No vendor lock-in.</a:t>
            </a:r>
          </a:p>
        </p:txBody>
      </p:sp>
      <p:sp>
        <p:nvSpPr>
          <p:cNvPr id="10" name="Oval 9"/>
          <p:cNvSpPr/>
          <p:nvPr/>
        </p:nvSpPr>
        <p:spPr>
          <a:xfrm>
            <a:off x="4197096" y="1280160"/>
            <a:ext cx="530352" cy="530352"/>
          </a:xfrm>
          <a:prstGeom prst="ellipse">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ptos"/>
              </a:rPr>
              <a:t>2</a:t>
            </a:r>
          </a:p>
        </p:txBody>
      </p:sp>
      <p:sp>
        <p:nvSpPr>
          <p:cNvPr id="11" name="Rectangle 10"/>
          <p:cNvSpPr/>
          <p:nvPr/>
        </p:nvSpPr>
        <p:spPr>
          <a:xfrm>
            <a:off x="3054096" y="1920240"/>
            <a:ext cx="2816352" cy="54864"/>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054096" y="1975104"/>
            <a:ext cx="2816352" cy="23774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63824" y="2066543"/>
            <a:ext cx="2596896" cy="402336"/>
          </a:xfrm>
          <a:prstGeom prst="rect">
            <a:avLst/>
          </a:prstGeom>
          <a:noFill/>
        </p:spPr>
        <p:txBody>
          <a:bodyPr wrap="square">
            <a:spAutoFit/>
          </a:bodyPr>
          <a:lstStyle/>
          <a:p>
            <a:pPr algn="l"/>
            <a:r>
              <a:rPr sz="1100" b="1">
                <a:solidFill>
                  <a:srgbClr val="0D8390"/>
                </a:solidFill>
                <a:latin typeface="Aptos"/>
              </a:rPr>
              <a:t>Cedar-Style Policy Engine</a:t>
            </a:r>
          </a:p>
        </p:txBody>
      </p:sp>
      <p:sp>
        <p:nvSpPr>
          <p:cNvPr id="14" name="TextBox 13"/>
          <p:cNvSpPr txBox="1"/>
          <p:nvPr/>
        </p:nvSpPr>
        <p:spPr>
          <a:xfrm>
            <a:off x="3163824" y="2505456"/>
            <a:ext cx="2596896" cy="1737360"/>
          </a:xfrm>
          <a:prstGeom prst="rect">
            <a:avLst/>
          </a:prstGeom>
          <a:noFill/>
        </p:spPr>
        <p:txBody>
          <a:bodyPr wrap="square">
            <a:spAutoFit/>
          </a:bodyPr>
          <a:lstStyle/>
          <a:p>
            <a:pPr algn="l"/>
            <a:r>
              <a:rPr sz="1000" b="0">
                <a:solidFill>
                  <a:srgbClr val="FFFFFF"/>
                </a:solidFill>
                <a:latin typeface="Aptos"/>
              </a:rPr>
              <a:t>Deny-by-default. Every tool call evaluated against permit/forbid rules keyed on user scope, group membership, and declared agent identity. Forbid wins on tied priority.</a:t>
            </a:r>
          </a:p>
        </p:txBody>
      </p:sp>
      <p:sp>
        <p:nvSpPr>
          <p:cNvPr id="15" name="Oval 14"/>
          <p:cNvSpPr/>
          <p:nvPr/>
        </p:nvSpPr>
        <p:spPr>
          <a:xfrm>
            <a:off x="7095744" y="1280160"/>
            <a:ext cx="530352" cy="530352"/>
          </a:xfrm>
          <a:prstGeom prst="ellipse">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ptos"/>
              </a:rPr>
              <a:t>3</a:t>
            </a:r>
          </a:p>
        </p:txBody>
      </p:sp>
      <p:sp>
        <p:nvSpPr>
          <p:cNvPr id="16" name="Rectangle 15"/>
          <p:cNvSpPr/>
          <p:nvPr/>
        </p:nvSpPr>
        <p:spPr>
          <a:xfrm>
            <a:off x="5952744" y="1920240"/>
            <a:ext cx="2816352" cy="54864"/>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952744" y="1975104"/>
            <a:ext cx="2816352" cy="23774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62472" y="2066543"/>
            <a:ext cx="2596896" cy="402336"/>
          </a:xfrm>
          <a:prstGeom prst="rect">
            <a:avLst/>
          </a:prstGeom>
          <a:noFill/>
        </p:spPr>
        <p:txBody>
          <a:bodyPr wrap="square">
            <a:spAutoFit/>
          </a:bodyPr>
          <a:lstStyle/>
          <a:p>
            <a:pPr algn="l"/>
            <a:r>
              <a:rPr sz="1100" b="1">
                <a:solidFill>
                  <a:srgbClr val="0076A8"/>
                </a:solidFill>
                <a:latin typeface="Aptos"/>
              </a:rPr>
              <a:t>Immutable Audit Log</a:t>
            </a:r>
          </a:p>
        </p:txBody>
      </p:sp>
      <p:sp>
        <p:nvSpPr>
          <p:cNvPr id="19" name="TextBox 18"/>
          <p:cNvSpPr txBox="1"/>
          <p:nvPr/>
        </p:nvSpPr>
        <p:spPr>
          <a:xfrm>
            <a:off x="6062472" y="2505456"/>
            <a:ext cx="2596896" cy="1737360"/>
          </a:xfrm>
          <a:prstGeom prst="rect">
            <a:avLst/>
          </a:prstGeom>
          <a:noFill/>
        </p:spPr>
        <p:txBody>
          <a:bodyPr wrap="square">
            <a:spAutoFit/>
          </a:bodyPr>
          <a:lstStyle/>
          <a:p>
            <a:pPr algn="l"/>
            <a:r>
              <a:rPr sz="1000" b="0">
                <a:solidFill>
                  <a:srgbClr val="FFFFFF"/>
                </a:solidFill>
                <a:latin typeface="Aptos"/>
              </a:rPr>
              <a:t>Every proxied call recorded: user sub, agent name, tool invoked, OBO token claims, timestamp, and outcome. Full chain of custody for compliance and forensic review.</a:t>
            </a:r>
          </a:p>
        </p:txBody>
      </p:sp>
      <p:sp>
        <p:nvSpPr>
          <p:cNvPr id="20" name="Oval 19"/>
          <p:cNvSpPr/>
          <p:nvPr/>
        </p:nvSpPr>
        <p:spPr>
          <a:xfrm>
            <a:off x="9994392" y="1280160"/>
            <a:ext cx="530352" cy="530352"/>
          </a:xfrm>
          <a:prstGeom prst="ellipse">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ptos"/>
              </a:rPr>
              <a:t>4</a:t>
            </a:r>
          </a:p>
        </p:txBody>
      </p:sp>
      <p:sp>
        <p:nvSpPr>
          <p:cNvPr id="21" name="Rectangle 20"/>
          <p:cNvSpPr/>
          <p:nvPr/>
        </p:nvSpPr>
        <p:spPr>
          <a:xfrm>
            <a:off x="8851392" y="1920240"/>
            <a:ext cx="2816352" cy="54864"/>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51392" y="1975104"/>
            <a:ext cx="2816352" cy="237744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19" y="2066543"/>
            <a:ext cx="2596896" cy="402336"/>
          </a:xfrm>
          <a:prstGeom prst="rect">
            <a:avLst/>
          </a:prstGeom>
          <a:noFill/>
        </p:spPr>
        <p:txBody>
          <a:bodyPr wrap="square">
            <a:spAutoFit/>
          </a:bodyPr>
          <a:lstStyle/>
          <a:p>
            <a:pPr algn="l"/>
            <a:r>
              <a:rPr sz="1100" b="1">
                <a:solidFill>
                  <a:srgbClr val="005587"/>
                </a:solidFill>
                <a:latin typeface="Aptos"/>
              </a:rPr>
              <a:t>Zero Shared Credentials</a:t>
            </a:r>
          </a:p>
        </p:txBody>
      </p:sp>
      <p:sp>
        <p:nvSpPr>
          <p:cNvPr id="24" name="TextBox 23"/>
          <p:cNvSpPr txBox="1"/>
          <p:nvPr/>
        </p:nvSpPr>
        <p:spPr>
          <a:xfrm>
            <a:off x="8961119" y="2505456"/>
            <a:ext cx="2596896" cy="1737360"/>
          </a:xfrm>
          <a:prstGeom prst="rect">
            <a:avLst/>
          </a:prstGeom>
          <a:noFill/>
        </p:spPr>
        <p:txBody>
          <a:bodyPr wrap="square">
            <a:spAutoFit/>
          </a:bodyPr>
          <a:lstStyle/>
          <a:p>
            <a:pPr algn="l"/>
            <a:r>
              <a:rPr sz="1000" b="0">
                <a:solidFill>
                  <a:srgbClr val="FFFFFF"/>
                </a:solidFill>
                <a:latin typeface="Aptos"/>
              </a:rPr>
              <a:t>Agents never hold user passwords or long-lived API keys. Short-lived OBO tokens are scoped to the minimum required audience and Redis-cached to limit Okta round-trips.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Step 1 — Registering an MCP Server into the Virtual Server</a:t>
            </a:r>
          </a:p>
        </p:txBody>
      </p:sp>
      <p:sp>
        <p:nvSpPr>
          <p:cNvPr id="3" name="Oval 2"/>
          <p:cNvSpPr/>
          <p:nvPr/>
        </p:nvSpPr>
        <p:spPr>
          <a:xfrm>
            <a:off x="1261872" y="1682496"/>
            <a:ext cx="493776" cy="493776"/>
          </a:xfrm>
          <a:prstGeom prst="ellipse">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1</a:t>
            </a:r>
          </a:p>
        </p:txBody>
      </p:sp>
      <p:sp>
        <p:nvSpPr>
          <p:cNvPr id="4" name="Rectangle 3"/>
          <p:cNvSpPr/>
          <p:nvPr/>
        </p:nvSpPr>
        <p:spPr>
          <a:xfrm>
            <a:off x="457200" y="2286000"/>
            <a:ext cx="2103120" cy="36576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0352" y="2331720"/>
            <a:ext cx="1956815" cy="274320"/>
          </a:xfrm>
          <a:prstGeom prst="rect">
            <a:avLst/>
          </a:prstGeom>
          <a:noFill/>
        </p:spPr>
        <p:txBody>
          <a:bodyPr wrap="square">
            <a:spAutoFit/>
          </a:bodyPr>
          <a:lstStyle/>
          <a:p>
            <a:pPr algn="ctr"/>
            <a:r>
              <a:rPr sz="1000" b="1">
                <a:solidFill>
                  <a:srgbClr val="FFFFFF"/>
                </a:solidFill>
                <a:latin typeface="Aptos"/>
              </a:rPr>
              <a:t>Register Endpoint</a:t>
            </a:r>
          </a:p>
        </p:txBody>
      </p:sp>
      <p:sp>
        <p:nvSpPr>
          <p:cNvPr id="6" name="Rounded Rectangle 5"/>
          <p:cNvSpPr/>
          <p:nvPr/>
        </p:nvSpPr>
        <p:spPr>
          <a:xfrm>
            <a:off x="457200" y="2651760"/>
            <a:ext cx="2103120" cy="25603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743200"/>
            <a:ext cx="1920239" cy="2377440"/>
          </a:xfrm>
          <a:prstGeom prst="rect">
            <a:avLst/>
          </a:prstGeom>
          <a:noFill/>
        </p:spPr>
        <p:txBody>
          <a:bodyPr wrap="square">
            <a:spAutoFit/>
          </a:bodyPr>
          <a:lstStyle/>
          <a:p>
            <a:pPr algn="l"/>
            <a:r>
              <a:rPr sz="1000" b="0">
                <a:solidFill>
                  <a:srgbClr val="000000"/>
                </a:solidFill>
                <a:latin typeface="Aptos"/>
              </a:rPr>
              <a:t>Point the Virtual Server at your MCP server URL. Assign a one-time access token for the initial handshake.</a:t>
            </a:r>
          </a:p>
        </p:txBody>
      </p:sp>
      <p:sp>
        <p:nvSpPr>
          <p:cNvPr id="8" name="Rectangle 7"/>
          <p:cNvSpPr/>
          <p:nvPr/>
        </p:nvSpPr>
        <p:spPr>
          <a:xfrm>
            <a:off x="2560320" y="1938528"/>
            <a:ext cx="91440" cy="4572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3456432" y="1682496"/>
            <a:ext cx="493776" cy="493776"/>
          </a:xfrm>
          <a:prstGeom prst="ellipse">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2</a:t>
            </a:r>
          </a:p>
        </p:txBody>
      </p:sp>
      <p:sp>
        <p:nvSpPr>
          <p:cNvPr id="10" name="Rectangle 9"/>
          <p:cNvSpPr/>
          <p:nvPr/>
        </p:nvSpPr>
        <p:spPr>
          <a:xfrm>
            <a:off x="2651760" y="2286000"/>
            <a:ext cx="2103120" cy="365760"/>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24912" y="2331720"/>
            <a:ext cx="1956815" cy="274320"/>
          </a:xfrm>
          <a:prstGeom prst="rect">
            <a:avLst/>
          </a:prstGeom>
          <a:noFill/>
        </p:spPr>
        <p:txBody>
          <a:bodyPr wrap="square">
            <a:spAutoFit/>
          </a:bodyPr>
          <a:lstStyle/>
          <a:p>
            <a:pPr algn="ctr"/>
            <a:r>
              <a:rPr sz="1000" b="1">
                <a:solidFill>
                  <a:srgbClr val="FFFFFF"/>
                </a:solidFill>
                <a:latin typeface="Aptos"/>
              </a:rPr>
              <a:t>Configure Okta OBO</a:t>
            </a:r>
          </a:p>
        </p:txBody>
      </p:sp>
      <p:sp>
        <p:nvSpPr>
          <p:cNvPr id="12" name="Rounded Rectangle 11"/>
          <p:cNvSpPr/>
          <p:nvPr/>
        </p:nvSpPr>
        <p:spPr>
          <a:xfrm>
            <a:off x="2651760" y="2651760"/>
            <a:ext cx="2103120" cy="25603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0" y="2743200"/>
            <a:ext cx="1920239" cy="2377440"/>
          </a:xfrm>
          <a:prstGeom prst="rect">
            <a:avLst/>
          </a:prstGeom>
          <a:noFill/>
        </p:spPr>
        <p:txBody>
          <a:bodyPr wrap="square">
            <a:spAutoFit/>
          </a:bodyPr>
          <a:lstStyle/>
          <a:p>
            <a:pPr algn="l"/>
            <a:r>
              <a:rPr sz="1000" b="0">
                <a:solidFill>
                  <a:srgbClr val="000000"/>
                </a:solidFill>
                <a:latin typeface="Aptos"/>
              </a:rPr>
              <a:t>Supply the gateway Okta credentials: issuer, client ID, client secret. The Virtual Server uses these — agents never see them.</a:t>
            </a:r>
          </a:p>
        </p:txBody>
      </p:sp>
      <p:sp>
        <p:nvSpPr>
          <p:cNvPr id="14" name="Rectangle 13"/>
          <p:cNvSpPr/>
          <p:nvPr/>
        </p:nvSpPr>
        <p:spPr>
          <a:xfrm>
            <a:off x="4754880" y="1938528"/>
            <a:ext cx="91440" cy="4572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50992" y="1682496"/>
            <a:ext cx="493776" cy="493776"/>
          </a:xfrm>
          <a:prstGeom prst="ellipse">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3</a:t>
            </a:r>
          </a:p>
        </p:txBody>
      </p:sp>
      <p:sp>
        <p:nvSpPr>
          <p:cNvPr id="16" name="Rectangle 15"/>
          <p:cNvSpPr/>
          <p:nvPr/>
        </p:nvSpPr>
        <p:spPr>
          <a:xfrm>
            <a:off x="4846320" y="2286000"/>
            <a:ext cx="2103120" cy="365760"/>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19472" y="2331720"/>
            <a:ext cx="1956815" cy="274320"/>
          </a:xfrm>
          <a:prstGeom prst="rect">
            <a:avLst/>
          </a:prstGeom>
          <a:noFill/>
        </p:spPr>
        <p:txBody>
          <a:bodyPr wrap="square">
            <a:spAutoFit/>
          </a:bodyPr>
          <a:lstStyle/>
          <a:p>
            <a:pPr algn="ctr"/>
            <a:r>
              <a:rPr sz="1000" b="1">
                <a:solidFill>
                  <a:srgbClr val="FFFFFF"/>
                </a:solidFill>
                <a:latin typeface="Aptos"/>
              </a:rPr>
              <a:t>Set Token Audience</a:t>
            </a:r>
          </a:p>
        </p:txBody>
      </p:sp>
      <p:sp>
        <p:nvSpPr>
          <p:cNvPr id="18" name="Rounded Rectangle 17"/>
          <p:cNvSpPr/>
          <p:nvPr/>
        </p:nvSpPr>
        <p:spPr>
          <a:xfrm>
            <a:off x="4846320" y="2651760"/>
            <a:ext cx="2103120" cy="25603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937759" y="2743200"/>
            <a:ext cx="1920239" cy="2377440"/>
          </a:xfrm>
          <a:prstGeom prst="rect">
            <a:avLst/>
          </a:prstGeom>
          <a:noFill/>
        </p:spPr>
        <p:txBody>
          <a:bodyPr wrap="square">
            <a:spAutoFit/>
          </a:bodyPr>
          <a:lstStyle/>
          <a:p>
            <a:pPr algn="l"/>
            <a:r>
              <a:rPr sz="1000" b="0">
                <a:solidFill>
                  <a:srgbClr val="000000"/>
                </a:solidFill>
                <a:latin typeface="Aptos"/>
              </a:rPr>
              <a:t>Define the downstream audience (e.g. api://banking-mcp). Every OBO exchange scopes the token precisely to this value.</a:t>
            </a:r>
          </a:p>
        </p:txBody>
      </p:sp>
      <p:sp>
        <p:nvSpPr>
          <p:cNvPr id="20" name="Rectangle 19"/>
          <p:cNvSpPr/>
          <p:nvPr/>
        </p:nvSpPr>
        <p:spPr>
          <a:xfrm>
            <a:off x="6949440" y="1938528"/>
            <a:ext cx="91440" cy="4572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845551" y="1682496"/>
            <a:ext cx="493776" cy="493776"/>
          </a:xfrm>
          <a:prstGeom prst="ellipse">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4</a:t>
            </a:r>
          </a:p>
        </p:txBody>
      </p:sp>
      <p:sp>
        <p:nvSpPr>
          <p:cNvPr id="22" name="Rectangle 21"/>
          <p:cNvSpPr/>
          <p:nvPr/>
        </p:nvSpPr>
        <p:spPr>
          <a:xfrm>
            <a:off x="7040879" y="2286000"/>
            <a:ext cx="2103120" cy="365760"/>
          </a:xfrm>
          <a:prstGeom prst="rect">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14031" y="2331720"/>
            <a:ext cx="1956815" cy="274320"/>
          </a:xfrm>
          <a:prstGeom prst="rect">
            <a:avLst/>
          </a:prstGeom>
          <a:noFill/>
        </p:spPr>
        <p:txBody>
          <a:bodyPr wrap="square">
            <a:spAutoFit/>
          </a:bodyPr>
          <a:lstStyle/>
          <a:p>
            <a:pPr algn="ctr"/>
            <a:r>
              <a:rPr sz="1000" b="1">
                <a:solidFill>
                  <a:srgbClr val="FFFFFF"/>
                </a:solidFill>
                <a:latin typeface="Aptos"/>
              </a:rPr>
              <a:t>Create Virtual Server</a:t>
            </a:r>
          </a:p>
        </p:txBody>
      </p:sp>
      <p:sp>
        <p:nvSpPr>
          <p:cNvPr id="24" name="Rounded Rectangle 23"/>
          <p:cNvSpPr/>
          <p:nvPr/>
        </p:nvSpPr>
        <p:spPr>
          <a:xfrm>
            <a:off x="7040879" y="2651760"/>
            <a:ext cx="2103120" cy="25603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19" y="2743200"/>
            <a:ext cx="1920239" cy="2377440"/>
          </a:xfrm>
          <a:prstGeom prst="rect">
            <a:avLst/>
          </a:prstGeom>
          <a:noFill/>
        </p:spPr>
        <p:txBody>
          <a:bodyPr wrap="square">
            <a:spAutoFit/>
          </a:bodyPr>
          <a:lstStyle/>
          <a:p>
            <a:pPr algn="l"/>
            <a:r>
              <a:rPr sz="1000" b="0">
                <a:solidFill>
                  <a:srgbClr val="000000"/>
                </a:solidFill>
                <a:latin typeface="Aptos"/>
              </a:rPr>
              <a:t>Name the routing context (e.g. banking-agent). This logical ID is what agents reference — an abstraction over the physical server.</a:t>
            </a:r>
          </a:p>
        </p:txBody>
      </p:sp>
      <p:sp>
        <p:nvSpPr>
          <p:cNvPr id="26" name="Rectangle 25"/>
          <p:cNvSpPr/>
          <p:nvPr/>
        </p:nvSpPr>
        <p:spPr>
          <a:xfrm>
            <a:off x="9144000" y="1938528"/>
            <a:ext cx="91440" cy="45720"/>
          </a:xfrm>
          <a:prstGeom prst="rect">
            <a:avLst/>
          </a:prstGeom>
          <a:solidFill>
            <a:srgbClr val="D0D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0040112" y="1682496"/>
            <a:ext cx="493776" cy="493776"/>
          </a:xfrm>
          <a:prstGeom prst="ellipse">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a:rPr>
              <a:t>5</a:t>
            </a:r>
          </a:p>
        </p:txBody>
      </p:sp>
      <p:sp>
        <p:nvSpPr>
          <p:cNvPr id="28" name="Rectangle 27"/>
          <p:cNvSpPr/>
          <p:nvPr/>
        </p:nvSpPr>
        <p:spPr>
          <a:xfrm>
            <a:off x="9235440" y="2286000"/>
            <a:ext cx="2103120" cy="365760"/>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08592" y="2331720"/>
            <a:ext cx="1956815" cy="274320"/>
          </a:xfrm>
          <a:prstGeom prst="rect">
            <a:avLst/>
          </a:prstGeom>
          <a:noFill/>
        </p:spPr>
        <p:txBody>
          <a:bodyPr wrap="square">
            <a:spAutoFit/>
          </a:bodyPr>
          <a:lstStyle/>
          <a:p>
            <a:pPr algn="ctr"/>
            <a:r>
              <a:rPr sz="1000" b="1">
                <a:solidFill>
                  <a:srgbClr val="FFFFFF"/>
                </a:solidFill>
                <a:latin typeface="Aptos"/>
              </a:rPr>
              <a:t>Author Policies</a:t>
            </a:r>
          </a:p>
        </p:txBody>
      </p:sp>
      <p:sp>
        <p:nvSpPr>
          <p:cNvPr id="30" name="Rounded Rectangle 29"/>
          <p:cNvSpPr/>
          <p:nvPr/>
        </p:nvSpPr>
        <p:spPr>
          <a:xfrm>
            <a:off x="9235440" y="2651760"/>
            <a:ext cx="2103120" cy="25603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80" y="2743200"/>
            <a:ext cx="1920239" cy="2377440"/>
          </a:xfrm>
          <a:prstGeom prst="rect">
            <a:avLst/>
          </a:prstGeom>
          <a:noFill/>
        </p:spPr>
        <p:txBody>
          <a:bodyPr wrap="square">
            <a:spAutoFit/>
          </a:bodyPr>
          <a:lstStyle/>
          <a:p>
            <a:pPr algn="l"/>
            <a:r>
              <a:rPr sz="1000" b="0">
                <a:solidFill>
                  <a:srgbClr val="000000"/>
                </a:solidFill>
                <a:latin typeface="Aptos"/>
              </a:rPr>
              <a:t>Write Cedar-style rules: deny calls without a user token; restrict approve_payment to users with the payments:approve scope.</a:t>
            </a:r>
          </a:p>
        </p:txBody>
      </p:sp>
      <p:sp>
        <p:nvSpPr>
          <p:cNvPr id="32" name="TextBox 31"/>
          <p:cNvSpPr txBox="1"/>
          <p:nvPr/>
        </p:nvSpPr>
        <p:spPr>
          <a:xfrm>
            <a:off x="457200" y="5669280"/>
            <a:ext cx="11274552" cy="228600"/>
          </a:xfrm>
          <a:prstGeom prst="rect">
            <a:avLst/>
          </a:prstGeom>
          <a:noFill/>
        </p:spPr>
        <p:txBody>
          <a:bodyPr wrap="square">
            <a:spAutoFit/>
          </a:bodyPr>
          <a:lstStyle/>
          <a:p>
            <a:pPr algn="l"/>
            <a:r>
              <a:rPr sz="800" b="0">
                <a:solidFill>
                  <a:srgbClr val="75787B"/>
                </a:solidFill>
                <a:latin typeface="Aptos"/>
              </a:rPr>
              <a:t>After onboarding, no further configuration changes are needed unless the MCP server endpoint or Okta tenant changes.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The Virtual Server Is the Trust Boundary — Nothing Bypasses It</a:t>
            </a:r>
          </a:p>
        </p:txBody>
      </p:sp>
      <p:sp>
        <p:nvSpPr>
          <p:cNvPr id="3" name="Rectangle 2"/>
          <p:cNvSpPr/>
          <p:nvPr/>
        </p:nvSpPr>
        <p:spPr>
          <a:xfrm>
            <a:off x="457200" y="1682496"/>
            <a:ext cx="960120" cy="73152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3776" y="1883664"/>
            <a:ext cx="886968" cy="329184"/>
          </a:xfrm>
          <a:prstGeom prst="rect">
            <a:avLst/>
          </a:prstGeom>
          <a:noFill/>
        </p:spPr>
        <p:txBody>
          <a:bodyPr wrap="square">
            <a:spAutoFit/>
          </a:bodyPr>
          <a:lstStyle/>
          <a:p>
            <a:pPr algn="ctr"/>
            <a:r>
              <a:rPr sz="1000" b="1">
                <a:solidFill>
                  <a:srgbClr val="FFFFFF"/>
                </a:solidFill>
                <a:latin typeface="Aptos"/>
              </a:rPr>
              <a:t>Intercept</a:t>
            </a:r>
          </a:p>
        </p:txBody>
      </p:sp>
      <p:sp>
        <p:nvSpPr>
          <p:cNvPr id="5" name="Rounded Rectangle 4"/>
          <p:cNvSpPr/>
          <p:nvPr/>
        </p:nvSpPr>
        <p:spPr>
          <a:xfrm>
            <a:off x="1417320" y="1682496"/>
            <a:ext cx="4343400" cy="7315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508760" y="1773936"/>
            <a:ext cx="4160520" cy="548640"/>
          </a:xfrm>
          <a:prstGeom prst="rect">
            <a:avLst/>
          </a:prstGeom>
          <a:noFill/>
        </p:spPr>
        <p:txBody>
          <a:bodyPr wrap="square">
            <a:spAutoFit/>
          </a:bodyPr>
          <a:lstStyle/>
          <a:p>
            <a:pPr algn="l"/>
            <a:r>
              <a:rPr sz="1000" b="0">
                <a:solidFill>
                  <a:srgbClr val="000000"/>
                </a:solidFill>
                <a:latin typeface="Aptos"/>
              </a:rPr>
              <a:t>Every inbound MCP tool call passes through the Virtual Server. Registered MCP servers are unreachable by agents directly.</a:t>
            </a:r>
          </a:p>
        </p:txBody>
      </p:sp>
      <p:sp>
        <p:nvSpPr>
          <p:cNvPr id="7" name="Rectangle 6"/>
          <p:cNvSpPr/>
          <p:nvPr/>
        </p:nvSpPr>
        <p:spPr>
          <a:xfrm>
            <a:off x="457200" y="2468880"/>
            <a:ext cx="960120" cy="731520"/>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6" y="2670048"/>
            <a:ext cx="886968" cy="329184"/>
          </a:xfrm>
          <a:prstGeom prst="rect">
            <a:avLst/>
          </a:prstGeom>
          <a:noFill/>
        </p:spPr>
        <p:txBody>
          <a:bodyPr wrap="square">
            <a:spAutoFit/>
          </a:bodyPr>
          <a:lstStyle/>
          <a:p>
            <a:pPr algn="ctr"/>
            <a:r>
              <a:rPr sz="1000" b="1">
                <a:solidFill>
                  <a:srgbClr val="FFFFFF"/>
                </a:solidFill>
                <a:latin typeface="Aptos"/>
              </a:rPr>
              <a:t>Authenticate</a:t>
            </a:r>
          </a:p>
        </p:txBody>
      </p:sp>
      <p:sp>
        <p:nvSpPr>
          <p:cNvPr id="9" name="Rounded Rectangle 8"/>
          <p:cNvSpPr/>
          <p:nvPr/>
        </p:nvSpPr>
        <p:spPr>
          <a:xfrm>
            <a:off x="1417320" y="2468880"/>
            <a:ext cx="4343400" cy="7315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08760" y="2560320"/>
            <a:ext cx="4160520" cy="548640"/>
          </a:xfrm>
          <a:prstGeom prst="rect">
            <a:avLst/>
          </a:prstGeom>
          <a:noFill/>
        </p:spPr>
        <p:txBody>
          <a:bodyPr wrap="square">
            <a:spAutoFit/>
          </a:bodyPr>
          <a:lstStyle/>
          <a:p>
            <a:pPr algn="l"/>
            <a:r>
              <a:rPr sz="1000" b="0">
                <a:solidFill>
                  <a:srgbClr val="000000"/>
                </a:solidFill>
                <a:latin typeface="Aptos"/>
              </a:rPr>
              <a:t>Validates the gateway bearer token. Extracts x-user-token header. Calls without a user token are rejected immediately.</a:t>
            </a:r>
          </a:p>
        </p:txBody>
      </p:sp>
      <p:sp>
        <p:nvSpPr>
          <p:cNvPr id="11" name="Rectangle 10"/>
          <p:cNvSpPr/>
          <p:nvPr/>
        </p:nvSpPr>
        <p:spPr>
          <a:xfrm>
            <a:off x="457200" y="3255264"/>
            <a:ext cx="960120" cy="731520"/>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3776" y="3456432"/>
            <a:ext cx="886968" cy="329184"/>
          </a:xfrm>
          <a:prstGeom prst="rect">
            <a:avLst/>
          </a:prstGeom>
          <a:noFill/>
        </p:spPr>
        <p:txBody>
          <a:bodyPr wrap="square">
            <a:spAutoFit/>
          </a:bodyPr>
          <a:lstStyle/>
          <a:p>
            <a:pPr algn="ctr"/>
            <a:r>
              <a:rPr sz="1000" b="1">
                <a:solidFill>
                  <a:srgbClr val="FFFFFF"/>
                </a:solidFill>
                <a:latin typeface="Aptos"/>
              </a:rPr>
              <a:t>Exchange</a:t>
            </a:r>
          </a:p>
        </p:txBody>
      </p:sp>
      <p:sp>
        <p:nvSpPr>
          <p:cNvPr id="13" name="Rounded Rectangle 12"/>
          <p:cNvSpPr/>
          <p:nvPr/>
        </p:nvSpPr>
        <p:spPr>
          <a:xfrm>
            <a:off x="1417320" y="3255264"/>
            <a:ext cx="4343400" cy="7315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08760" y="3346704"/>
            <a:ext cx="4160520" cy="548640"/>
          </a:xfrm>
          <a:prstGeom prst="rect">
            <a:avLst/>
          </a:prstGeom>
          <a:noFill/>
        </p:spPr>
        <p:txBody>
          <a:bodyPr wrap="square">
            <a:spAutoFit/>
          </a:bodyPr>
          <a:lstStyle/>
          <a:p>
            <a:pPr algn="l"/>
            <a:r>
              <a:rPr sz="1000" b="0">
                <a:solidFill>
                  <a:srgbClr val="000000"/>
                </a:solidFill>
                <a:latin typeface="Aptos"/>
              </a:rPr>
              <a:t>RFC 8693 OBO exchange with Okta using the virtual server's own credentials. Resulting token cached in Redis by token fingerprint.</a:t>
            </a:r>
          </a:p>
        </p:txBody>
      </p:sp>
      <p:sp>
        <p:nvSpPr>
          <p:cNvPr id="15" name="Rectangle 14"/>
          <p:cNvSpPr/>
          <p:nvPr/>
        </p:nvSpPr>
        <p:spPr>
          <a:xfrm>
            <a:off x="457200" y="4041648"/>
            <a:ext cx="960120" cy="731520"/>
          </a:xfrm>
          <a:prstGeom prst="rect">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 y="4242816"/>
            <a:ext cx="886968" cy="329184"/>
          </a:xfrm>
          <a:prstGeom prst="rect">
            <a:avLst/>
          </a:prstGeom>
          <a:noFill/>
        </p:spPr>
        <p:txBody>
          <a:bodyPr wrap="square">
            <a:spAutoFit/>
          </a:bodyPr>
          <a:lstStyle/>
          <a:p>
            <a:pPr algn="ctr"/>
            <a:r>
              <a:rPr sz="1000" b="1">
                <a:solidFill>
                  <a:srgbClr val="FFFFFF"/>
                </a:solidFill>
                <a:latin typeface="Aptos"/>
              </a:rPr>
              <a:t>Policy Check</a:t>
            </a:r>
          </a:p>
        </p:txBody>
      </p:sp>
      <p:sp>
        <p:nvSpPr>
          <p:cNvPr id="17" name="Rounded Rectangle 16"/>
          <p:cNvSpPr/>
          <p:nvPr/>
        </p:nvSpPr>
        <p:spPr>
          <a:xfrm>
            <a:off x="1417320" y="4041648"/>
            <a:ext cx="4343400" cy="7315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08760" y="4133087"/>
            <a:ext cx="4160520" cy="548640"/>
          </a:xfrm>
          <a:prstGeom prst="rect">
            <a:avLst/>
          </a:prstGeom>
          <a:noFill/>
        </p:spPr>
        <p:txBody>
          <a:bodyPr wrap="square">
            <a:spAutoFit/>
          </a:bodyPr>
          <a:lstStyle/>
          <a:p>
            <a:pPr algn="l"/>
            <a:r>
              <a:rPr sz="1000" b="0">
                <a:solidFill>
                  <a:srgbClr val="000000"/>
                </a:solidFill>
                <a:latin typeface="Aptos"/>
              </a:rPr>
              <a:t>Cedar-style policy evaluation. Deny-by-default. A forbid rule of equal or higher priority than any matching permit wins.</a:t>
            </a:r>
          </a:p>
        </p:txBody>
      </p:sp>
      <p:sp>
        <p:nvSpPr>
          <p:cNvPr id="19" name="Rectangle 18"/>
          <p:cNvSpPr/>
          <p:nvPr/>
        </p:nvSpPr>
        <p:spPr>
          <a:xfrm>
            <a:off x="457200" y="4828032"/>
            <a:ext cx="960120" cy="731520"/>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93776" y="5029200"/>
            <a:ext cx="886968" cy="329184"/>
          </a:xfrm>
          <a:prstGeom prst="rect">
            <a:avLst/>
          </a:prstGeom>
          <a:noFill/>
        </p:spPr>
        <p:txBody>
          <a:bodyPr wrap="square">
            <a:spAutoFit/>
          </a:bodyPr>
          <a:lstStyle/>
          <a:p>
            <a:pPr algn="ctr"/>
            <a:r>
              <a:rPr sz="1000" b="1">
                <a:solidFill>
                  <a:srgbClr val="FFFFFF"/>
                </a:solidFill>
                <a:latin typeface="Aptos"/>
              </a:rPr>
              <a:t>Proxy and Audit</a:t>
            </a:r>
          </a:p>
        </p:txBody>
      </p:sp>
      <p:sp>
        <p:nvSpPr>
          <p:cNvPr id="21" name="Rounded Rectangle 20"/>
          <p:cNvSpPr/>
          <p:nvPr/>
        </p:nvSpPr>
        <p:spPr>
          <a:xfrm>
            <a:off x="1417320" y="4828032"/>
            <a:ext cx="4343400" cy="7315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08760" y="4919472"/>
            <a:ext cx="4160520" cy="548640"/>
          </a:xfrm>
          <a:prstGeom prst="rect">
            <a:avLst/>
          </a:prstGeom>
          <a:noFill/>
        </p:spPr>
        <p:txBody>
          <a:bodyPr wrap="square">
            <a:spAutoFit/>
          </a:bodyPr>
          <a:lstStyle/>
          <a:p>
            <a:pPr algn="l"/>
            <a:r>
              <a:rPr sz="1000" b="0">
                <a:solidFill>
                  <a:srgbClr val="000000"/>
                </a:solidFill>
                <a:latin typeface="Aptos"/>
              </a:rPr>
              <a:t>Forwards the call with the OBO token. Records user sub, agent name, tool, claims, timestamp, and outcome to the audit log.</a:t>
            </a:r>
          </a:p>
        </p:txBody>
      </p:sp>
      <p:sp>
        <p:nvSpPr>
          <p:cNvPr id="23" name="Rectangle 22"/>
          <p:cNvSpPr/>
          <p:nvPr/>
        </p:nvSpPr>
        <p:spPr>
          <a:xfrm>
            <a:off x="6254496" y="1682496"/>
            <a:ext cx="5477256" cy="402336"/>
          </a:xfrm>
          <a:prstGeom prst="rect">
            <a:avLst/>
          </a:prstGeom>
          <a:solidFill>
            <a:srgbClr val="046A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4224" y="1728216"/>
            <a:ext cx="5257800" cy="292608"/>
          </a:xfrm>
          <a:prstGeom prst="rect">
            <a:avLst/>
          </a:prstGeom>
          <a:noFill/>
        </p:spPr>
        <p:txBody>
          <a:bodyPr wrap="square">
            <a:spAutoFit/>
          </a:bodyPr>
          <a:lstStyle/>
          <a:p>
            <a:pPr algn="l"/>
            <a:r>
              <a:rPr sz="1100" b="1">
                <a:solidFill>
                  <a:srgbClr val="FFFFFF"/>
                </a:solidFill>
                <a:latin typeface="Aptos"/>
              </a:rPr>
              <a:t>Key Design Decisions</a:t>
            </a:r>
          </a:p>
        </p:txBody>
      </p:sp>
      <p:sp>
        <p:nvSpPr>
          <p:cNvPr id="25" name="Rounded Rectangle 24"/>
          <p:cNvSpPr/>
          <p:nvPr/>
        </p:nvSpPr>
        <p:spPr>
          <a:xfrm>
            <a:off x="6254496" y="2157984"/>
            <a:ext cx="5477256" cy="77724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91656" y="2212848"/>
            <a:ext cx="5202936" cy="274320"/>
          </a:xfrm>
          <a:prstGeom prst="rect">
            <a:avLst/>
          </a:prstGeom>
          <a:noFill/>
        </p:spPr>
        <p:txBody>
          <a:bodyPr wrap="square">
            <a:spAutoFit/>
          </a:bodyPr>
          <a:lstStyle/>
          <a:p>
            <a:pPr algn="l"/>
            <a:r>
              <a:rPr sz="1000" b="1">
                <a:solidFill>
                  <a:srgbClr val="046A38"/>
                </a:solidFill>
                <a:latin typeface="Aptos"/>
              </a:rPr>
              <a:t>fallback_to_client_credentials: false</a:t>
            </a:r>
          </a:p>
        </p:txBody>
      </p:sp>
      <p:sp>
        <p:nvSpPr>
          <p:cNvPr id="27" name="TextBox 26"/>
          <p:cNvSpPr txBox="1"/>
          <p:nvPr/>
        </p:nvSpPr>
        <p:spPr>
          <a:xfrm>
            <a:off x="6391656" y="2505456"/>
            <a:ext cx="5202936" cy="365760"/>
          </a:xfrm>
          <a:prstGeom prst="rect">
            <a:avLst/>
          </a:prstGeom>
          <a:noFill/>
        </p:spPr>
        <p:txBody>
          <a:bodyPr wrap="square">
            <a:spAutoFit/>
          </a:bodyPr>
          <a:lstStyle/>
          <a:p>
            <a:pPr algn="l"/>
            <a:r>
              <a:rPr sz="1000" b="0">
                <a:solidFill>
                  <a:srgbClr val="000000"/>
                </a:solidFill>
                <a:latin typeface="Aptos"/>
              </a:rPr>
              <a:t>The gateway NEVER uses its own credentials. No user token = no access, always.</a:t>
            </a:r>
          </a:p>
        </p:txBody>
      </p:sp>
      <p:sp>
        <p:nvSpPr>
          <p:cNvPr id="28" name="Rounded Rectangle 27"/>
          <p:cNvSpPr/>
          <p:nvPr/>
        </p:nvSpPr>
        <p:spPr>
          <a:xfrm>
            <a:off x="6254496" y="2999232"/>
            <a:ext cx="5477256" cy="77724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91656" y="3054096"/>
            <a:ext cx="5202936" cy="274320"/>
          </a:xfrm>
          <a:prstGeom prst="rect">
            <a:avLst/>
          </a:prstGeom>
          <a:noFill/>
        </p:spPr>
        <p:txBody>
          <a:bodyPr wrap="square">
            <a:spAutoFit/>
          </a:bodyPr>
          <a:lstStyle/>
          <a:p>
            <a:pPr algn="l"/>
            <a:r>
              <a:rPr sz="1000" b="1">
                <a:solidFill>
                  <a:srgbClr val="046A38"/>
                </a:solidFill>
                <a:latin typeface="Aptos"/>
              </a:rPr>
              <a:t>Redis-backed OBO cache</a:t>
            </a:r>
          </a:p>
        </p:txBody>
      </p:sp>
      <p:sp>
        <p:nvSpPr>
          <p:cNvPr id="30" name="TextBox 29"/>
          <p:cNvSpPr txBox="1"/>
          <p:nvPr/>
        </p:nvSpPr>
        <p:spPr>
          <a:xfrm>
            <a:off x="6391656" y="3346703"/>
            <a:ext cx="5202936" cy="365760"/>
          </a:xfrm>
          <a:prstGeom prst="rect">
            <a:avLst/>
          </a:prstGeom>
          <a:noFill/>
        </p:spPr>
        <p:txBody>
          <a:bodyPr wrap="square">
            <a:spAutoFit/>
          </a:bodyPr>
          <a:lstStyle/>
          <a:p>
            <a:pPr algn="l"/>
            <a:r>
              <a:rPr sz="1000" b="0">
                <a:solidFill>
                  <a:srgbClr val="000000"/>
                </a:solidFill>
                <a:latin typeface="Aptos"/>
              </a:rPr>
              <a:t>Exchanged tokens cached by token fingerprint. Eliminates redundant Okta calls under load.</a:t>
            </a:r>
          </a:p>
        </p:txBody>
      </p:sp>
      <p:sp>
        <p:nvSpPr>
          <p:cNvPr id="31" name="Rounded Rectangle 30"/>
          <p:cNvSpPr/>
          <p:nvPr/>
        </p:nvSpPr>
        <p:spPr>
          <a:xfrm>
            <a:off x="6254496" y="3840480"/>
            <a:ext cx="5477256" cy="77724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91656" y="3895344"/>
            <a:ext cx="5202936" cy="274320"/>
          </a:xfrm>
          <a:prstGeom prst="rect">
            <a:avLst/>
          </a:prstGeom>
          <a:noFill/>
        </p:spPr>
        <p:txBody>
          <a:bodyPr wrap="square">
            <a:spAutoFit/>
          </a:bodyPr>
          <a:lstStyle/>
          <a:p>
            <a:pPr algn="l"/>
            <a:r>
              <a:rPr sz="1000" b="1">
                <a:solidFill>
                  <a:srgbClr val="046A38"/>
                </a:solidFill>
                <a:latin typeface="Aptos"/>
              </a:rPr>
              <a:t>Virtual server isolation</a:t>
            </a:r>
          </a:p>
        </p:txBody>
      </p:sp>
      <p:sp>
        <p:nvSpPr>
          <p:cNvPr id="33" name="TextBox 32"/>
          <p:cNvSpPr txBox="1"/>
          <p:nvPr/>
        </p:nvSpPr>
        <p:spPr>
          <a:xfrm>
            <a:off x="6391656" y="4187952"/>
            <a:ext cx="5202936" cy="365760"/>
          </a:xfrm>
          <a:prstGeom prst="rect">
            <a:avLst/>
          </a:prstGeom>
          <a:noFill/>
        </p:spPr>
        <p:txBody>
          <a:bodyPr wrap="square">
            <a:spAutoFit/>
          </a:bodyPr>
          <a:lstStyle/>
          <a:p>
            <a:pPr algn="l"/>
            <a:r>
              <a:rPr sz="1000" b="0">
                <a:solidFill>
                  <a:srgbClr val="000000"/>
                </a:solidFill>
                <a:latin typeface="Aptos"/>
              </a:rPr>
              <a:t>Each virtual server is a separate routing context. Banking agent cannot reach HR or finance MCP servers.</a:t>
            </a:r>
          </a:p>
        </p:txBody>
      </p:sp>
      <p:sp>
        <p:nvSpPr>
          <p:cNvPr id="34" name="Rounded Rectangle 33"/>
          <p:cNvSpPr/>
          <p:nvPr/>
        </p:nvSpPr>
        <p:spPr>
          <a:xfrm>
            <a:off x="6254496" y="4681728"/>
            <a:ext cx="5477256" cy="77724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91656" y="4736592"/>
            <a:ext cx="5202936" cy="274320"/>
          </a:xfrm>
          <a:prstGeom prst="rect">
            <a:avLst/>
          </a:prstGeom>
          <a:noFill/>
        </p:spPr>
        <p:txBody>
          <a:bodyPr wrap="square">
            <a:spAutoFit/>
          </a:bodyPr>
          <a:lstStyle/>
          <a:p>
            <a:pPr algn="l"/>
            <a:r>
              <a:rPr sz="1000" b="1">
                <a:solidFill>
                  <a:srgbClr val="046A38"/>
                </a:solidFill>
                <a:latin typeface="Aptos"/>
              </a:rPr>
              <a:t>Scope pass-through</a:t>
            </a:r>
          </a:p>
        </p:txBody>
      </p:sp>
      <p:sp>
        <p:nvSpPr>
          <p:cNvPr id="36" name="TextBox 35"/>
          <p:cNvSpPr txBox="1"/>
          <p:nvPr/>
        </p:nvSpPr>
        <p:spPr>
          <a:xfrm>
            <a:off x="6391656" y="5029200"/>
            <a:ext cx="5202936" cy="365760"/>
          </a:xfrm>
          <a:prstGeom prst="rect">
            <a:avLst/>
          </a:prstGeom>
          <a:noFill/>
        </p:spPr>
        <p:txBody>
          <a:bodyPr wrap="square">
            <a:spAutoFit/>
          </a:bodyPr>
          <a:lstStyle/>
          <a:p>
            <a:pPr algn="l"/>
            <a:r>
              <a:rPr sz="1000" b="0">
                <a:solidFill>
                  <a:srgbClr val="000000"/>
                </a:solidFill>
                <a:latin typeface="Aptos"/>
              </a:rPr>
              <a:t>OBO exchange forwards only domain scopes. OIDC scopes (openid, profile, email) stripped automatically.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RFC 8693 On-Behalf-Of: User Identity Preserved Across Every Hop</a:t>
            </a:r>
          </a:p>
        </p:txBody>
      </p:sp>
      <p:sp>
        <p:nvSpPr>
          <p:cNvPr id="3" name="Oval 2"/>
          <p:cNvSpPr/>
          <p:nvPr/>
        </p:nvSpPr>
        <p:spPr>
          <a:xfrm>
            <a:off x="1993391" y="1682496"/>
            <a:ext cx="475488" cy="475488"/>
          </a:xfrm>
          <a:prstGeom prst="ellipse">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ptos"/>
              </a:rPr>
              <a:t>1</a:t>
            </a:r>
          </a:p>
        </p:txBody>
      </p:sp>
      <p:sp>
        <p:nvSpPr>
          <p:cNvPr id="4" name="Rectangle 3"/>
          <p:cNvSpPr/>
          <p:nvPr/>
        </p:nvSpPr>
        <p:spPr>
          <a:xfrm>
            <a:off x="457200" y="2249424"/>
            <a:ext cx="3547872" cy="347472"/>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95144"/>
            <a:ext cx="3364991" cy="256032"/>
          </a:xfrm>
          <a:prstGeom prst="rect">
            <a:avLst/>
          </a:prstGeom>
          <a:noFill/>
        </p:spPr>
        <p:txBody>
          <a:bodyPr wrap="square">
            <a:spAutoFit/>
          </a:bodyPr>
          <a:lstStyle/>
          <a:p>
            <a:pPr algn="ctr"/>
            <a:r>
              <a:rPr sz="1000" b="1">
                <a:solidFill>
                  <a:srgbClr val="FFFFFF"/>
                </a:solidFill>
                <a:latin typeface="Aptos"/>
              </a:rPr>
              <a:t>User Authenticates via Okta</a:t>
            </a:r>
          </a:p>
        </p:txBody>
      </p:sp>
      <p:sp>
        <p:nvSpPr>
          <p:cNvPr id="6" name="Rounded Rectangle 5"/>
          <p:cNvSpPr/>
          <p:nvPr/>
        </p:nvSpPr>
        <p:spPr>
          <a:xfrm>
            <a:off x="457200" y="2596896"/>
            <a:ext cx="3547872" cy="9601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2670048"/>
            <a:ext cx="3328415" cy="813816"/>
          </a:xfrm>
          <a:prstGeom prst="rect">
            <a:avLst/>
          </a:prstGeom>
          <a:noFill/>
        </p:spPr>
        <p:txBody>
          <a:bodyPr wrap="square">
            <a:spAutoFit/>
          </a:bodyPr>
          <a:lstStyle/>
          <a:p>
            <a:pPr algn="l"/>
            <a:r>
              <a:rPr sz="1000" b="0">
                <a:solidFill>
                  <a:srgbClr val="000000"/>
                </a:solidFill>
                <a:latin typeface="Aptos"/>
              </a:rPr>
              <a:t>User signs in via Authorization Code + PKCE. Receives access_token with aud: api://banking — scoped to banking operations only.</a:t>
            </a:r>
          </a:p>
        </p:txBody>
      </p:sp>
      <p:sp>
        <p:nvSpPr>
          <p:cNvPr id="8" name="Oval 7"/>
          <p:cNvSpPr/>
          <p:nvPr/>
        </p:nvSpPr>
        <p:spPr>
          <a:xfrm>
            <a:off x="5623559" y="1682496"/>
            <a:ext cx="475488" cy="475488"/>
          </a:xfrm>
          <a:prstGeom prst="ellipse">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ptos"/>
              </a:rPr>
              <a:t>2</a:t>
            </a:r>
          </a:p>
        </p:txBody>
      </p:sp>
      <p:sp>
        <p:nvSpPr>
          <p:cNvPr id="9" name="Rectangle 8"/>
          <p:cNvSpPr/>
          <p:nvPr/>
        </p:nvSpPr>
        <p:spPr>
          <a:xfrm>
            <a:off x="4087368" y="2249424"/>
            <a:ext cx="3547872" cy="347472"/>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78807" y="2295144"/>
            <a:ext cx="3364991" cy="256032"/>
          </a:xfrm>
          <a:prstGeom prst="rect">
            <a:avLst/>
          </a:prstGeom>
          <a:noFill/>
        </p:spPr>
        <p:txBody>
          <a:bodyPr wrap="square">
            <a:spAutoFit/>
          </a:bodyPr>
          <a:lstStyle/>
          <a:p>
            <a:pPr algn="ctr"/>
            <a:r>
              <a:rPr sz="1000" b="1">
                <a:solidFill>
                  <a:srgbClr val="FFFFFF"/>
                </a:solidFill>
                <a:latin typeface="Aptos"/>
              </a:rPr>
              <a:t>Agent Acquires User Token</a:t>
            </a:r>
          </a:p>
        </p:txBody>
      </p:sp>
      <p:sp>
        <p:nvSpPr>
          <p:cNvPr id="11" name="Rounded Rectangle 10"/>
          <p:cNvSpPr/>
          <p:nvPr/>
        </p:nvSpPr>
        <p:spPr>
          <a:xfrm>
            <a:off x="4087368" y="2596896"/>
            <a:ext cx="3547872" cy="9601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197096" y="2670048"/>
            <a:ext cx="3328415" cy="813816"/>
          </a:xfrm>
          <a:prstGeom prst="rect">
            <a:avLst/>
          </a:prstGeom>
          <a:noFill/>
        </p:spPr>
        <p:txBody>
          <a:bodyPr wrap="square">
            <a:spAutoFit/>
          </a:bodyPr>
          <a:lstStyle/>
          <a:p>
            <a:pPr algn="l"/>
            <a:r>
              <a:rPr sz="1000" b="0">
                <a:solidFill>
                  <a:srgbClr val="000000"/>
                </a:solidFill>
                <a:latin typeface="Aptos"/>
              </a:rPr>
              <a:t>Agent obtains the user's access_token via PKCE browser flow or explicit paste. This becomes the user delegation credential.</a:t>
            </a:r>
          </a:p>
        </p:txBody>
      </p:sp>
      <p:sp>
        <p:nvSpPr>
          <p:cNvPr id="13" name="Oval 12"/>
          <p:cNvSpPr/>
          <p:nvPr/>
        </p:nvSpPr>
        <p:spPr>
          <a:xfrm>
            <a:off x="9253728" y="1682496"/>
            <a:ext cx="475488" cy="475488"/>
          </a:xfrm>
          <a:prstGeom prst="ellipse">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ptos"/>
              </a:rPr>
              <a:t>3</a:t>
            </a:r>
          </a:p>
        </p:txBody>
      </p:sp>
      <p:sp>
        <p:nvSpPr>
          <p:cNvPr id="14" name="Rectangle 13"/>
          <p:cNvSpPr/>
          <p:nvPr/>
        </p:nvSpPr>
        <p:spPr>
          <a:xfrm>
            <a:off x="7717536" y="2249424"/>
            <a:ext cx="3547872" cy="347472"/>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08975" y="2295144"/>
            <a:ext cx="3364991" cy="256032"/>
          </a:xfrm>
          <a:prstGeom prst="rect">
            <a:avLst/>
          </a:prstGeom>
          <a:noFill/>
        </p:spPr>
        <p:txBody>
          <a:bodyPr wrap="square">
            <a:spAutoFit/>
          </a:bodyPr>
          <a:lstStyle/>
          <a:p>
            <a:pPr algn="ctr"/>
            <a:r>
              <a:rPr sz="1000" b="1">
                <a:solidFill>
                  <a:srgbClr val="FFFFFF"/>
                </a:solidFill>
                <a:latin typeface="Aptos"/>
              </a:rPr>
              <a:t>Virtual Server Intercepts Call</a:t>
            </a:r>
          </a:p>
        </p:txBody>
      </p:sp>
      <p:sp>
        <p:nvSpPr>
          <p:cNvPr id="16" name="Rounded Rectangle 15"/>
          <p:cNvSpPr/>
          <p:nvPr/>
        </p:nvSpPr>
        <p:spPr>
          <a:xfrm>
            <a:off x="7717536" y="2596896"/>
            <a:ext cx="3547872" cy="9601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27263" y="2670048"/>
            <a:ext cx="3328415" cy="813816"/>
          </a:xfrm>
          <a:prstGeom prst="rect">
            <a:avLst/>
          </a:prstGeom>
          <a:noFill/>
        </p:spPr>
        <p:txBody>
          <a:bodyPr wrap="square">
            <a:spAutoFit/>
          </a:bodyPr>
          <a:lstStyle/>
          <a:p>
            <a:pPr algn="l"/>
            <a:r>
              <a:rPr sz="1000" b="0">
                <a:solidFill>
                  <a:srgbClr val="000000"/>
                </a:solidFill>
                <a:latin typeface="Aptos"/>
              </a:rPr>
              <a:t>MCP Virtual Server receives the tool call. Validates gateway bearer, extracts x-user-token, evaluates Cedar-style policy rules.</a:t>
            </a:r>
          </a:p>
        </p:txBody>
      </p:sp>
      <p:sp>
        <p:nvSpPr>
          <p:cNvPr id="18" name="Oval 17"/>
          <p:cNvSpPr/>
          <p:nvPr/>
        </p:nvSpPr>
        <p:spPr>
          <a:xfrm>
            <a:off x="1993391" y="3703320"/>
            <a:ext cx="475488" cy="475488"/>
          </a:xfrm>
          <a:prstGeom prst="ellipse">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ptos"/>
              </a:rPr>
              <a:t>4</a:t>
            </a:r>
          </a:p>
        </p:txBody>
      </p:sp>
      <p:sp>
        <p:nvSpPr>
          <p:cNvPr id="19" name="Rectangle 18"/>
          <p:cNvSpPr/>
          <p:nvPr/>
        </p:nvSpPr>
        <p:spPr>
          <a:xfrm>
            <a:off x="457200" y="4270248"/>
            <a:ext cx="3547872" cy="347472"/>
          </a:xfrm>
          <a:prstGeom prst="rect">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315968"/>
            <a:ext cx="3364991" cy="256032"/>
          </a:xfrm>
          <a:prstGeom prst="rect">
            <a:avLst/>
          </a:prstGeom>
          <a:noFill/>
        </p:spPr>
        <p:txBody>
          <a:bodyPr wrap="square">
            <a:spAutoFit/>
          </a:bodyPr>
          <a:lstStyle/>
          <a:p>
            <a:pPr algn="ctr"/>
            <a:r>
              <a:rPr sz="1000" b="1">
                <a:solidFill>
                  <a:srgbClr val="FFFFFF"/>
                </a:solidFill>
                <a:latin typeface="Aptos"/>
              </a:rPr>
              <a:t>OBO Exchange with Okta</a:t>
            </a:r>
          </a:p>
        </p:txBody>
      </p:sp>
      <p:sp>
        <p:nvSpPr>
          <p:cNvPr id="21" name="Rounded Rectangle 20"/>
          <p:cNvSpPr/>
          <p:nvPr/>
        </p:nvSpPr>
        <p:spPr>
          <a:xfrm>
            <a:off x="457200" y="4617720"/>
            <a:ext cx="3547872" cy="9601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4690872"/>
            <a:ext cx="3328415" cy="813816"/>
          </a:xfrm>
          <a:prstGeom prst="rect">
            <a:avLst/>
          </a:prstGeom>
          <a:noFill/>
        </p:spPr>
        <p:txBody>
          <a:bodyPr wrap="square">
            <a:spAutoFit/>
          </a:bodyPr>
          <a:lstStyle/>
          <a:p>
            <a:pPr algn="l"/>
            <a:r>
              <a:rPr sz="1000" b="0">
                <a:solidFill>
                  <a:srgbClr val="000000"/>
                </a:solidFill>
                <a:latin typeface="Aptos"/>
              </a:rPr>
              <a:t>Virtual Server posts RFC 8693 token exchange to Okta Auth Server B with its own client credentials and user token as subject_token.</a:t>
            </a:r>
          </a:p>
        </p:txBody>
      </p:sp>
      <p:sp>
        <p:nvSpPr>
          <p:cNvPr id="23" name="Oval 22"/>
          <p:cNvSpPr/>
          <p:nvPr/>
        </p:nvSpPr>
        <p:spPr>
          <a:xfrm>
            <a:off x="5623559" y="3703320"/>
            <a:ext cx="475488" cy="475488"/>
          </a:xfrm>
          <a:prstGeom prst="ellipse">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ptos"/>
              </a:rPr>
              <a:t>5</a:t>
            </a:r>
          </a:p>
        </p:txBody>
      </p:sp>
      <p:sp>
        <p:nvSpPr>
          <p:cNvPr id="24" name="Rectangle 23"/>
          <p:cNvSpPr/>
          <p:nvPr/>
        </p:nvSpPr>
        <p:spPr>
          <a:xfrm>
            <a:off x="4087368" y="4270248"/>
            <a:ext cx="3547872" cy="347472"/>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78807" y="4315968"/>
            <a:ext cx="3364991" cy="256032"/>
          </a:xfrm>
          <a:prstGeom prst="rect">
            <a:avLst/>
          </a:prstGeom>
          <a:noFill/>
        </p:spPr>
        <p:txBody>
          <a:bodyPr wrap="square">
            <a:spAutoFit/>
          </a:bodyPr>
          <a:lstStyle/>
          <a:p>
            <a:pPr algn="ctr"/>
            <a:r>
              <a:rPr sz="1000" b="1">
                <a:solidFill>
                  <a:srgbClr val="FFFFFF"/>
                </a:solidFill>
                <a:latin typeface="Aptos"/>
              </a:rPr>
              <a:t>OBO Token Returned and Cached</a:t>
            </a:r>
          </a:p>
        </p:txBody>
      </p:sp>
      <p:sp>
        <p:nvSpPr>
          <p:cNvPr id="26" name="Rounded Rectangle 25"/>
          <p:cNvSpPr/>
          <p:nvPr/>
        </p:nvSpPr>
        <p:spPr>
          <a:xfrm>
            <a:off x="4087368" y="4617720"/>
            <a:ext cx="3547872" cy="9601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97096" y="4690872"/>
            <a:ext cx="3328415" cy="813816"/>
          </a:xfrm>
          <a:prstGeom prst="rect">
            <a:avLst/>
          </a:prstGeom>
          <a:noFill/>
        </p:spPr>
        <p:txBody>
          <a:bodyPr wrap="square">
            <a:spAutoFit/>
          </a:bodyPr>
          <a:lstStyle/>
          <a:p>
            <a:pPr algn="l"/>
            <a:r>
              <a:rPr sz="1000" b="0">
                <a:solidFill>
                  <a:srgbClr val="000000"/>
                </a:solidFill>
                <a:latin typeface="Aptos"/>
              </a:rPr>
              <a:t>Okta returns a new access_token scoped to api://banking-mcp, preserving user sub. Result cached in Redis for subsequent calls.</a:t>
            </a:r>
          </a:p>
        </p:txBody>
      </p:sp>
      <p:sp>
        <p:nvSpPr>
          <p:cNvPr id="28" name="Oval 27"/>
          <p:cNvSpPr/>
          <p:nvPr/>
        </p:nvSpPr>
        <p:spPr>
          <a:xfrm>
            <a:off x="9253728" y="3703320"/>
            <a:ext cx="475488" cy="475488"/>
          </a:xfrm>
          <a:prstGeom prst="ellipse">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Aptos"/>
              </a:rPr>
              <a:t>6</a:t>
            </a:r>
          </a:p>
        </p:txBody>
      </p:sp>
      <p:sp>
        <p:nvSpPr>
          <p:cNvPr id="29" name="Rectangle 28"/>
          <p:cNvSpPr/>
          <p:nvPr/>
        </p:nvSpPr>
        <p:spPr>
          <a:xfrm>
            <a:off x="7717536" y="4270248"/>
            <a:ext cx="3547872" cy="347472"/>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08975" y="4315968"/>
            <a:ext cx="3364991" cy="256032"/>
          </a:xfrm>
          <a:prstGeom prst="rect">
            <a:avLst/>
          </a:prstGeom>
          <a:noFill/>
        </p:spPr>
        <p:txBody>
          <a:bodyPr wrap="square">
            <a:spAutoFit/>
          </a:bodyPr>
          <a:lstStyle/>
          <a:p>
            <a:pPr algn="ctr"/>
            <a:r>
              <a:rPr sz="1000" b="1">
                <a:solidFill>
                  <a:srgbClr val="FFFFFF"/>
                </a:solidFill>
                <a:latin typeface="Aptos"/>
              </a:rPr>
              <a:t>Backend Executes as the User</a:t>
            </a:r>
          </a:p>
        </p:txBody>
      </p:sp>
      <p:sp>
        <p:nvSpPr>
          <p:cNvPr id="31" name="Rounded Rectangle 30"/>
          <p:cNvSpPr/>
          <p:nvPr/>
        </p:nvSpPr>
        <p:spPr>
          <a:xfrm>
            <a:off x="7717536" y="4617720"/>
            <a:ext cx="3547872" cy="96012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827263" y="4690872"/>
            <a:ext cx="3328415" cy="813816"/>
          </a:xfrm>
          <a:prstGeom prst="rect">
            <a:avLst/>
          </a:prstGeom>
          <a:noFill/>
        </p:spPr>
        <p:txBody>
          <a:bodyPr wrap="square">
            <a:spAutoFit/>
          </a:bodyPr>
          <a:lstStyle/>
          <a:p>
            <a:pPr algn="l"/>
            <a:r>
              <a:rPr sz="1000" b="0">
                <a:solidFill>
                  <a:srgbClr val="000000"/>
                </a:solidFill>
                <a:latin typeface="Aptos"/>
              </a:rPr>
              <a:t>Banking MCP server decodes the OBO token, reads user sub, calls getOrCreateUser() — every database action bound to that user.</a:t>
            </a:r>
          </a:p>
        </p:txBody>
      </p:sp>
      <p:sp>
        <p:nvSpPr>
          <p:cNvPr id="33" name="TextBox 32"/>
          <p:cNvSpPr txBox="1"/>
          <p:nvPr/>
        </p:nvSpPr>
        <p:spPr>
          <a:xfrm>
            <a:off x="457200" y="5669280"/>
            <a:ext cx="11274552" cy="228600"/>
          </a:xfrm>
          <a:prstGeom prst="rect">
            <a:avLst/>
          </a:prstGeom>
          <a:noFill/>
        </p:spPr>
        <p:txBody>
          <a:bodyPr wrap="square">
            <a:spAutoFit/>
          </a:bodyPr>
          <a:lstStyle/>
          <a:p>
            <a:pPr algn="l"/>
            <a:r>
              <a:rPr sz="800" b="0">
                <a:solidFill>
                  <a:srgbClr val="75787B"/>
                </a:solidFill>
                <a:latin typeface="Aptos"/>
              </a:rPr>
              <a:t>The agent never holds the user's password. The backend never trusts the agent directly. Okta validates every hop cryptographically.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Deny-by-Default: The Cedar-Style Policy Engine</a:t>
            </a:r>
          </a:p>
        </p:txBody>
      </p:sp>
      <p:sp>
        <p:nvSpPr>
          <p:cNvPr id="3" name="Rectangle 2"/>
          <p:cNvSpPr/>
          <p:nvPr/>
        </p:nvSpPr>
        <p:spPr>
          <a:xfrm>
            <a:off x="457200" y="1682496"/>
            <a:ext cx="5394960" cy="402336"/>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728216"/>
            <a:ext cx="5175504" cy="292608"/>
          </a:xfrm>
          <a:prstGeom prst="rect">
            <a:avLst/>
          </a:prstGeom>
          <a:noFill/>
        </p:spPr>
        <p:txBody>
          <a:bodyPr wrap="square">
            <a:spAutoFit/>
          </a:bodyPr>
          <a:lstStyle/>
          <a:p>
            <a:pPr algn="l"/>
            <a:r>
              <a:rPr sz="1100" b="1">
                <a:solidFill>
                  <a:srgbClr val="FFFFFF"/>
                </a:solidFill>
                <a:latin typeface="Aptos"/>
              </a:rPr>
              <a:t>Evaluation Logic</a:t>
            </a:r>
          </a:p>
        </p:txBody>
      </p:sp>
      <p:sp>
        <p:nvSpPr>
          <p:cNvPr id="5" name="Rounded Rectangle 4"/>
          <p:cNvSpPr/>
          <p:nvPr/>
        </p:nvSpPr>
        <p:spPr>
          <a:xfrm>
            <a:off x="457200" y="2157984"/>
            <a:ext cx="5394960" cy="658368"/>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2212848"/>
            <a:ext cx="5120640" cy="237744"/>
          </a:xfrm>
          <a:prstGeom prst="rect">
            <a:avLst/>
          </a:prstGeom>
          <a:noFill/>
        </p:spPr>
        <p:txBody>
          <a:bodyPr wrap="square">
            <a:spAutoFit/>
          </a:bodyPr>
          <a:lstStyle/>
          <a:p>
            <a:pPr algn="l"/>
            <a:r>
              <a:rPr sz="1000" b="1">
                <a:solidFill>
                  <a:srgbClr val="046A38"/>
                </a:solidFill>
                <a:latin typeface="Aptos"/>
              </a:rPr>
              <a:t>Default Deny</a:t>
            </a:r>
          </a:p>
        </p:txBody>
      </p:sp>
      <p:sp>
        <p:nvSpPr>
          <p:cNvPr id="7" name="TextBox 6"/>
          <p:cNvSpPr txBox="1"/>
          <p:nvPr/>
        </p:nvSpPr>
        <p:spPr>
          <a:xfrm>
            <a:off x="594360" y="2459736"/>
            <a:ext cx="5120640" cy="301752"/>
          </a:xfrm>
          <a:prstGeom prst="rect">
            <a:avLst/>
          </a:prstGeom>
          <a:noFill/>
        </p:spPr>
        <p:txBody>
          <a:bodyPr wrap="square">
            <a:spAutoFit/>
          </a:bodyPr>
          <a:lstStyle/>
          <a:p>
            <a:pPr algn="l"/>
            <a:r>
              <a:rPr sz="1000" b="0">
                <a:solidFill>
                  <a:srgbClr val="000000"/>
                </a:solidFill>
                <a:latin typeface="Aptos"/>
              </a:rPr>
              <a:t>No permit match = blocked. No implicit trust, no silent pass-through.</a:t>
            </a:r>
          </a:p>
        </p:txBody>
      </p:sp>
      <p:sp>
        <p:nvSpPr>
          <p:cNvPr id="8" name="Rounded Rectangle 7"/>
          <p:cNvSpPr/>
          <p:nvPr/>
        </p:nvSpPr>
        <p:spPr>
          <a:xfrm>
            <a:off x="457200" y="2871215"/>
            <a:ext cx="5394960" cy="658368"/>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926079"/>
            <a:ext cx="5120640" cy="237744"/>
          </a:xfrm>
          <a:prstGeom prst="rect">
            <a:avLst/>
          </a:prstGeom>
          <a:noFill/>
        </p:spPr>
        <p:txBody>
          <a:bodyPr wrap="square">
            <a:spAutoFit/>
          </a:bodyPr>
          <a:lstStyle/>
          <a:p>
            <a:pPr algn="l"/>
            <a:r>
              <a:rPr sz="1000" b="1">
                <a:solidFill>
                  <a:srgbClr val="046A38"/>
                </a:solidFill>
                <a:latin typeface="Aptos"/>
              </a:rPr>
              <a:t>Priority-Ordered</a:t>
            </a:r>
          </a:p>
        </p:txBody>
      </p:sp>
      <p:sp>
        <p:nvSpPr>
          <p:cNvPr id="10" name="TextBox 9"/>
          <p:cNvSpPr txBox="1"/>
          <p:nvPr/>
        </p:nvSpPr>
        <p:spPr>
          <a:xfrm>
            <a:off x="594360" y="3172968"/>
            <a:ext cx="5120640" cy="301752"/>
          </a:xfrm>
          <a:prstGeom prst="rect">
            <a:avLst/>
          </a:prstGeom>
          <a:noFill/>
        </p:spPr>
        <p:txBody>
          <a:bodyPr wrap="square">
            <a:spAutoFit/>
          </a:bodyPr>
          <a:lstStyle/>
          <a:p>
            <a:pPr algn="l"/>
            <a:r>
              <a:rPr sz="1000" b="0">
                <a:solidFill>
                  <a:srgbClr val="000000"/>
                </a:solidFill>
                <a:latin typeface="Aptos"/>
              </a:rPr>
              <a:t>Rules sorted by priority integer. Higher-priority forbids override lower-priority permits.</a:t>
            </a:r>
          </a:p>
        </p:txBody>
      </p:sp>
      <p:sp>
        <p:nvSpPr>
          <p:cNvPr id="11" name="Rounded Rectangle 10"/>
          <p:cNvSpPr/>
          <p:nvPr/>
        </p:nvSpPr>
        <p:spPr>
          <a:xfrm>
            <a:off x="457200" y="3584448"/>
            <a:ext cx="5394960" cy="658368"/>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3639312"/>
            <a:ext cx="5120640" cy="237744"/>
          </a:xfrm>
          <a:prstGeom prst="rect">
            <a:avLst/>
          </a:prstGeom>
          <a:noFill/>
        </p:spPr>
        <p:txBody>
          <a:bodyPr wrap="square">
            <a:spAutoFit/>
          </a:bodyPr>
          <a:lstStyle/>
          <a:p>
            <a:pPr algn="l"/>
            <a:r>
              <a:rPr sz="1000" b="1">
                <a:solidFill>
                  <a:srgbClr val="046A38"/>
                </a:solidFill>
                <a:latin typeface="Aptos"/>
              </a:rPr>
              <a:t>Condition Types</a:t>
            </a:r>
          </a:p>
        </p:txBody>
      </p:sp>
      <p:sp>
        <p:nvSpPr>
          <p:cNvPr id="13" name="TextBox 12"/>
          <p:cNvSpPr txBox="1"/>
          <p:nvPr/>
        </p:nvSpPr>
        <p:spPr>
          <a:xfrm>
            <a:off x="594360" y="3886200"/>
            <a:ext cx="5120640" cy="301752"/>
          </a:xfrm>
          <a:prstGeom prst="rect">
            <a:avLst/>
          </a:prstGeom>
          <a:noFill/>
        </p:spPr>
        <p:txBody>
          <a:bodyPr wrap="square">
            <a:spAutoFit/>
          </a:bodyPr>
          <a:lstStyle/>
          <a:p>
            <a:pPr algn="l"/>
            <a:r>
              <a:rPr sz="1000" b="0">
                <a:solidFill>
                  <a:srgbClr val="000000"/>
                </a:solidFill>
                <a:latin typeface="Aptos"/>
              </a:rPr>
              <a:t>scope_contains · group_contains · sub_equals — and _any variants for multi-value matching. Composable per rule.</a:t>
            </a:r>
          </a:p>
        </p:txBody>
      </p:sp>
      <p:sp>
        <p:nvSpPr>
          <p:cNvPr id="14" name="Rounded Rectangle 13"/>
          <p:cNvSpPr/>
          <p:nvPr/>
        </p:nvSpPr>
        <p:spPr>
          <a:xfrm>
            <a:off x="457200" y="4297680"/>
            <a:ext cx="5394960" cy="658368"/>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352544"/>
            <a:ext cx="5120640" cy="237744"/>
          </a:xfrm>
          <a:prstGeom prst="rect">
            <a:avLst/>
          </a:prstGeom>
          <a:noFill/>
        </p:spPr>
        <p:txBody>
          <a:bodyPr wrap="square">
            <a:spAutoFit/>
          </a:bodyPr>
          <a:lstStyle/>
          <a:p>
            <a:pPr algn="l"/>
            <a:r>
              <a:rPr sz="1000" b="1">
                <a:solidFill>
                  <a:srgbClr val="046A38"/>
                </a:solidFill>
                <a:latin typeface="Aptos"/>
              </a:rPr>
              <a:t>Action Wildcards</a:t>
            </a:r>
          </a:p>
        </p:txBody>
      </p:sp>
      <p:sp>
        <p:nvSpPr>
          <p:cNvPr id="16" name="TextBox 15"/>
          <p:cNvSpPr txBox="1"/>
          <p:nvPr/>
        </p:nvSpPr>
        <p:spPr>
          <a:xfrm>
            <a:off x="594360" y="4599432"/>
            <a:ext cx="5120640" cy="301752"/>
          </a:xfrm>
          <a:prstGeom prst="rect">
            <a:avLst/>
          </a:prstGeom>
          <a:noFill/>
        </p:spPr>
        <p:txBody>
          <a:bodyPr wrap="square">
            <a:spAutoFit/>
          </a:bodyPr>
          <a:lstStyle/>
          <a:p>
            <a:pPr algn="l"/>
            <a:r>
              <a:rPr sz="1000" b="0">
                <a:solidFill>
                  <a:srgbClr val="000000"/>
                </a:solidFill>
                <a:latin typeface="Aptos"/>
              </a:rPr>
              <a:t>Match any tool (*) on any server (*), or target specific combinations: approve_payment on banking-mcp only.</a:t>
            </a:r>
          </a:p>
        </p:txBody>
      </p:sp>
      <p:sp>
        <p:nvSpPr>
          <p:cNvPr id="17" name="Rounded Rectangle 16"/>
          <p:cNvSpPr/>
          <p:nvPr/>
        </p:nvSpPr>
        <p:spPr>
          <a:xfrm>
            <a:off x="457200" y="5010912"/>
            <a:ext cx="5394960" cy="658368"/>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065776"/>
            <a:ext cx="5120640" cy="237744"/>
          </a:xfrm>
          <a:prstGeom prst="rect">
            <a:avLst/>
          </a:prstGeom>
          <a:noFill/>
        </p:spPr>
        <p:txBody>
          <a:bodyPr wrap="square">
            <a:spAutoFit/>
          </a:bodyPr>
          <a:lstStyle/>
          <a:p>
            <a:pPr algn="l"/>
            <a:r>
              <a:rPr sz="1000" b="1">
                <a:solidFill>
                  <a:srgbClr val="046A38"/>
                </a:solidFill>
                <a:latin typeface="Aptos"/>
              </a:rPr>
              <a:t>Forbid Wins on Tie</a:t>
            </a:r>
          </a:p>
        </p:txBody>
      </p:sp>
      <p:sp>
        <p:nvSpPr>
          <p:cNvPr id="19" name="TextBox 18"/>
          <p:cNvSpPr txBox="1"/>
          <p:nvPr/>
        </p:nvSpPr>
        <p:spPr>
          <a:xfrm>
            <a:off x="594360" y="5312664"/>
            <a:ext cx="5120640" cy="301752"/>
          </a:xfrm>
          <a:prstGeom prst="rect">
            <a:avLst/>
          </a:prstGeom>
          <a:noFill/>
        </p:spPr>
        <p:txBody>
          <a:bodyPr wrap="square">
            <a:spAutoFit/>
          </a:bodyPr>
          <a:lstStyle/>
          <a:p>
            <a:pPr algn="l"/>
            <a:r>
              <a:rPr sz="1000" b="0">
                <a:solidFill>
                  <a:srgbClr val="000000"/>
                </a:solidFill>
                <a:latin typeface="Aptos"/>
              </a:rPr>
              <a:t>Equal-priority forbid beats any matching permit — the engine errs on the side of caution.</a:t>
            </a:r>
          </a:p>
        </p:txBody>
      </p:sp>
      <p:sp>
        <p:nvSpPr>
          <p:cNvPr id="20" name="Rectangle 19"/>
          <p:cNvSpPr/>
          <p:nvPr/>
        </p:nvSpPr>
        <p:spPr>
          <a:xfrm>
            <a:off x="6254496" y="1682496"/>
            <a:ext cx="5477256" cy="402336"/>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64224" y="1728216"/>
            <a:ext cx="5257800" cy="292608"/>
          </a:xfrm>
          <a:prstGeom prst="rect">
            <a:avLst/>
          </a:prstGeom>
          <a:noFill/>
        </p:spPr>
        <p:txBody>
          <a:bodyPr wrap="square">
            <a:spAutoFit/>
          </a:bodyPr>
          <a:lstStyle/>
          <a:p>
            <a:pPr algn="l"/>
            <a:r>
              <a:rPr sz="1100" b="1">
                <a:solidFill>
                  <a:srgbClr val="FFFFFF"/>
                </a:solidFill>
                <a:latin typeface="Aptos"/>
              </a:rPr>
              <a:t>Example Policy Rules</a:t>
            </a:r>
          </a:p>
        </p:txBody>
      </p:sp>
      <p:sp>
        <p:nvSpPr>
          <p:cNvPr id="22" name="Rounded Rectangle 21"/>
          <p:cNvSpPr/>
          <p:nvPr/>
        </p:nvSpPr>
        <p:spPr>
          <a:xfrm>
            <a:off x="6254496" y="2157984"/>
            <a:ext cx="5477256" cy="100584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54496" y="2157984"/>
            <a:ext cx="73152" cy="1005840"/>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19088" y="2212848"/>
            <a:ext cx="5221224" cy="292608"/>
          </a:xfrm>
          <a:prstGeom prst="rect">
            <a:avLst/>
          </a:prstGeom>
          <a:noFill/>
        </p:spPr>
        <p:txBody>
          <a:bodyPr wrap="square">
            <a:spAutoFit/>
          </a:bodyPr>
          <a:lstStyle/>
          <a:p>
            <a:pPr algn="l"/>
            <a:r>
              <a:rPr sz="1000" b="1">
                <a:solidFill>
                  <a:srgbClr val="0D8390"/>
                </a:solidFill>
                <a:latin typeface="Aptos"/>
              </a:rPr>
              <a:t>FORBID — Priority 100 — All Tools (*)</a:t>
            </a:r>
          </a:p>
        </p:txBody>
      </p:sp>
      <p:sp>
        <p:nvSpPr>
          <p:cNvPr id="25" name="TextBox 24"/>
          <p:cNvSpPr txBox="1"/>
          <p:nvPr/>
        </p:nvSpPr>
        <p:spPr>
          <a:xfrm>
            <a:off x="6419088" y="2523744"/>
            <a:ext cx="5221224" cy="548640"/>
          </a:xfrm>
          <a:prstGeom prst="rect">
            <a:avLst/>
          </a:prstGeom>
          <a:noFill/>
        </p:spPr>
        <p:txBody>
          <a:bodyPr wrap="square">
            <a:spAutoFit/>
          </a:bodyPr>
          <a:lstStyle/>
          <a:p>
            <a:pPr algn="l"/>
            <a:r>
              <a:rPr sz="1000" b="0">
                <a:solidFill>
                  <a:srgbClr val="000000"/>
                </a:solidFill>
                <a:latin typeface="Aptos"/>
              </a:rPr>
              <a:t>Condition: No x-user-token header present
Effect: Deny immediately. No anonymous agent access under any circumstance.</a:t>
            </a:r>
          </a:p>
        </p:txBody>
      </p:sp>
      <p:sp>
        <p:nvSpPr>
          <p:cNvPr id="26" name="Rounded Rectangle 25"/>
          <p:cNvSpPr/>
          <p:nvPr/>
        </p:nvSpPr>
        <p:spPr>
          <a:xfrm>
            <a:off x="6254496" y="3255264"/>
            <a:ext cx="5477256" cy="100584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54496" y="3255264"/>
            <a:ext cx="73152" cy="1005840"/>
          </a:xfrm>
          <a:prstGeom prst="rect">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088" y="3310128"/>
            <a:ext cx="5221224" cy="292608"/>
          </a:xfrm>
          <a:prstGeom prst="rect">
            <a:avLst/>
          </a:prstGeom>
          <a:noFill/>
        </p:spPr>
        <p:txBody>
          <a:bodyPr wrap="square">
            <a:spAutoFit/>
          </a:bodyPr>
          <a:lstStyle/>
          <a:p>
            <a:pPr algn="l"/>
            <a:r>
              <a:rPr sz="1000" b="1">
                <a:solidFill>
                  <a:srgbClr val="007680"/>
                </a:solidFill>
                <a:latin typeface="Aptos"/>
              </a:rPr>
              <a:t>FORBID — Priority 90 — All Tools (*)</a:t>
            </a:r>
          </a:p>
        </p:txBody>
      </p:sp>
      <p:sp>
        <p:nvSpPr>
          <p:cNvPr id="29" name="TextBox 28"/>
          <p:cNvSpPr txBox="1"/>
          <p:nvPr/>
        </p:nvSpPr>
        <p:spPr>
          <a:xfrm>
            <a:off x="6419088" y="3621024"/>
            <a:ext cx="5221224" cy="548640"/>
          </a:xfrm>
          <a:prstGeom prst="rect">
            <a:avLst/>
          </a:prstGeom>
          <a:noFill/>
        </p:spPr>
        <p:txBody>
          <a:bodyPr wrap="square">
            <a:spAutoFit/>
          </a:bodyPr>
          <a:lstStyle/>
          <a:p>
            <a:pPr algn="l"/>
            <a:r>
              <a:rPr sz="1000" b="0">
                <a:solidFill>
                  <a:srgbClr val="000000"/>
                </a:solidFill>
                <a:latin typeface="Aptos"/>
              </a:rPr>
              <a:t>Condition: X-Agent-Token not in the approved agents list
Effect: Silently block undeclared agents. Only registered identities may call.</a:t>
            </a:r>
          </a:p>
        </p:txBody>
      </p:sp>
      <p:sp>
        <p:nvSpPr>
          <p:cNvPr id="30" name="Rounded Rectangle 29"/>
          <p:cNvSpPr/>
          <p:nvPr/>
        </p:nvSpPr>
        <p:spPr>
          <a:xfrm>
            <a:off x="6254496" y="4352544"/>
            <a:ext cx="5477256" cy="1097280"/>
          </a:xfrm>
          <a:prstGeom prst="roundRect">
            <a:avLst/>
          </a:prstGeom>
          <a:solidFill>
            <a:srgbClr val="FFFFFF"/>
          </a:solidFill>
          <a:ln w="9525">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54496" y="4352544"/>
            <a:ext cx="73152" cy="1097280"/>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19088" y="4407407"/>
            <a:ext cx="5221224" cy="292608"/>
          </a:xfrm>
          <a:prstGeom prst="rect">
            <a:avLst/>
          </a:prstGeom>
          <a:noFill/>
        </p:spPr>
        <p:txBody>
          <a:bodyPr wrap="square">
            <a:spAutoFit/>
          </a:bodyPr>
          <a:lstStyle/>
          <a:p>
            <a:pPr algn="l"/>
            <a:r>
              <a:rPr sz="1000" b="1">
                <a:solidFill>
                  <a:srgbClr val="86BC25"/>
                </a:solidFill>
                <a:latin typeface="Aptos"/>
              </a:rPr>
              <a:t>PERMIT — Priority 50 — approve_payment</a:t>
            </a:r>
          </a:p>
        </p:txBody>
      </p:sp>
      <p:sp>
        <p:nvSpPr>
          <p:cNvPr id="33" name="TextBox 32"/>
          <p:cNvSpPr txBox="1"/>
          <p:nvPr/>
        </p:nvSpPr>
        <p:spPr>
          <a:xfrm>
            <a:off x="6419088" y="4718304"/>
            <a:ext cx="5221224" cy="640080"/>
          </a:xfrm>
          <a:prstGeom prst="rect">
            <a:avLst/>
          </a:prstGeom>
          <a:noFill/>
        </p:spPr>
        <p:txBody>
          <a:bodyPr wrap="square">
            <a:spAutoFit/>
          </a:bodyPr>
          <a:lstStyle/>
          <a:p>
            <a:pPr algn="l"/>
            <a:r>
              <a:rPr sz="1000" b="0">
                <a:solidFill>
                  <a:srgbClr val="000000"/>
                </a:solidFill>
                <a:latin typeface="Aptos"/>
              </a:rPr>
              <a:t>Condition: scope_contains payments:approve AND group_contains banking-managers
Effect: Only managers with the explicit approval scope may invoke this tool.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Aptos"/>
              </a:rPr>
              <a:t>The Complete Picture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3152"/>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28016"/>
            <a:ext cx="11274552" cy="457200"/>
          </a:xfrm>
          <a:prstGeom prst="rect">
            <a:avLst/>
          </a:prstGeom>
          <a:noFill/>
        </p:spPr>
        <p:txBody>
          <a:bodyPr wrap="square">
            <a:spAutoFit/>
          </a:bodyPr>
          <a:lstStyle/>
          <a:p>
            <a:pPr algn="l"/>
            <a:r>
              <a:rPr sz="2000" b="1">
                <a:solidFill>
                  <a:srgbClr val="FFFFFF"/>
                </a:solidFill>
                <a:latin typeface="Aptos"/>
              </a:rPr>
              <a:t>End-to-End Identity Flow: From User Login to Secure Tool Execution</a:t>
            </a:r>
          </a:p>
        </p:txBody>
      </p:sp>
      <p:sp>
        <p:nvSpPr>
          <p:cNvPr id="4" name="TextBox 3"/>
          <p:cNvSpPr txBox="1"/>
          <p:nvPr/>
        </p:nvSpPr>
        <p:spPr>
          <a:xfrm>
            <a:off x="457200" y="621792"/>
            <a:ext cx="11274552" cy="320040"/>
          </a:xfrm>
          <a:prstGeom prst="rect">
            <a:avLst/>
          </a:prstGeom>
          <a:noFill/>
        </p:spPr>
        <p:txBody>
          <a:bodyPr wrap="square">
            <a:spAutoFit/>
          </a:bodyPr>
          <a:lstStyle/>
          <a:p>
            <a:pPr algn="l"/>
            <a:r>
              <a:rPr sz="1100" b="0">
                <a:solidFill>
                  <a:srgbClr val="C0C0C0"/>
                </a:solidFill>
                <a:latin typeface="Aptos"/>
              </a:rPr>
              <a:t>User identity preserved and scope-limited at every hop — no shared credentials, no implicit trust, full audit trail</a:t>
            </a:r>
          </a:p>
        </p:txBody>
      </p:sp>
      <p:sp>
        <p:nvSpPr>
          <p:cNvPr id="5" name="Rectangle 4"/>
          <p:cNvSpPr/>
          <p:nvPr/>
        </p:nvSpPr>
        <p:spPr>
          <a:xfrm>
            <a:off x="0" y="1078992"/>
            <a:ext cx="1389888" cy="1078992"/>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 y="1417320"/>
            <a:ext cx="1298448" cy="402336"/>
          </a:xfrm>
          <a:prstGeom prst="rect">
            <a:avLst/>
          </a:prstGeom>
          <a:noFill/>
        </p:spPr>
        <p:txBody>
          <a:bodyPr wrap="square">
            <a:spAutoFit/>
          </a:bodyPr>
          <a:lstStyle/>
          <a:p>
            <a:pPr algn="ctr"/>
            <a:r>
              <a:rPr sz="1000" b="1">
                <a:solidFill>
                  <a:srgbClr val="FFFFFF"/>
                </a:solidFill>
                <a:latin typeface="Aptos"/>
              </a:rPr>
              <a:t>User &amp;
Agent</a:t>
            </a:r>
          </a:p>
        </p:txBody>
      </p:sp>
      <p:sp>
        <p:nvSpPr>
          <p:cNvPr id="7" name="Rounded Rectangle 6"/>
          <p:cNvSpPr/>
          <p:nvPr/>
        </p:nvSpPr>
        <p:spPr>
          <a:xfrm>
            <a:off x="1444752" y="1078992"/>
            <a:ext cx="10671048" cy="1078992"/>
          </a:xfrm>
          <a:prstGeom prst="roundRect">
            <a:avLst/>
          </a:prstGeom>
          <a:solidFill>
            <a:srgbClr val="1A1A1A"/>
          </a:solid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2212848"/>
            <a:ext cx="1389888" cy="1463040"/>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 y="2743199"/>
            <a:ext cx="1298448" cy="402336"/>
          </a:xfrm>
          <a:prstGeom prst="rect">
            <a:avLst/>
          </a:prstGeom>
          <a:noFill/>
        </p:spPr>
        <p:txBody>
          <a:bodyPr wrap="square">
            <a:spAutoFit/>
          </a:bodyPr>
          <a:lstStyle/>
          <a:p>
            <a:pPr algn="ctr"/>
            <a:r>
              <a:rPr sz="1000" b="1">
                <a:solidFill>
                  <a:srgbClr val="FFFFFF"/>
                </a:solidFill>
                <a:latin typeface="Aptos"/>
              </a:rPr>
              <a:t>MCP Virtual
Server</a:t>
            </a:r>
          </a:p>
        </p:txBody>
      </p:sp>
      <p:sp>
        <p:nvSpPr>
          <p:cNvPr id="10" name="Rounded Rectangle 9"/>
          <p:cNvSpPr/>
          <p:nvPr/>
        </p:nvSpPr>
        <p:spPr>
          <a:xfrm>
            <a:off x="1444752" y="2212848"/>
            <a:ext cx="10671048" cy="1463040"/>
          </a:xfrm>
          <a:prstGeom prst="roundRect">
            <a:avLst/>
          </a:prstGeom>
          <a:solidFill>
            <a:srgbClr val="1A1A1A"/>
          </a:solid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730752"/>
            <a:ext cx="1389888" cy="960120"/>
          </a:xfrm>
          <a:prstGeom prst="rect">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 y="4009644"/>
            <a:ext cx="1298448" cy="402336"/>
          </a:xfrm>
          <a:prstGeom prst="rect">
            <a:avLst/>
          </a:prstGeom>
          <a:noFill/>
        </p:spPr>
        <p:txBody>
          <a:bodyPr wrap="square">
            <a:spAutoFit/>
          </a:bodyPr>
          <a:lstStyle/>
          <a:p>
            <a:pPr algn="ctr"/>
            <a:r>
              <a:rPr sz="1000" b="1">
                <a:solidFill>
                  <a:srgbClr val="FFFFFF"/>
                </a:solidFill>
                <a:latin typeface="Aptos"/>
              </a:rPr>
              <a:t>Okta
Auth Server B</a:t>
            </a:r>
          </a:p>
        </p:txBody>
      </p:sp>
      <p:sp>
        <p:nvSpPr>
          <p:cNvPr id="13" name="Rounded Rectangle 12"/>
          <p:cNvSpPr/>
          <p:nvPr/>
        </p:nvSpPr>
        <p:spPr>
          <a:xfrm>
            <a:off x="1444752" y="3730752"/>
            <a:ext cx="10671048" cy="960120"/>
          </a:xfrm>
          <a:prstGeom prst="roundRect">
            <a:avLst/>
          </a:prstGeom>
          <a:solidFill>
            <a:srgbClr val="1A1A1A"/>
          </a:solid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4745736"/>
            <a:ext cx="1389888" cy="822960"/>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 y="4956048"/>
            <a:ext cx="1298448" cy="402336"/>
          </a:xfrm>
          <a:prstGeom prst="rect">
            <a:avLst/>
          </a:prstGeom>
          <a:noFill/>
        </p:spPr>
        <p:txBody>
          <a:bodyPr wrap="square">
            <a:spAutoFit/>
          </a:bodyPr>
          <a:lstStyle/>
          <a:p>
            <a:pPr algn="ctr"/>
            <a:r>
              <a:rPr sz="1000" b="1">
                <a:solidFill>
                  <a:srgbClr val="FFFFFF"/>
                </a:solidFill>
                <a:latin typeface="Aptos"/>
              </a:rPr>
              <a:t>Banking
MCP Server</a:t>
            </a:r>
          </a:p>
        </p:txBody>
      </p:sp>
      <p:sp>
        <p:nvSpPr>
          <p:cNvPr id="16" name="Rounded Rectangle 15"/>
          <p:cNvSpPr/>
          <p:nvPr/>
        </p:nvSpPr>
        <p:spPr>
          <a:xfrm>
            <a:off x="1444752" y="4745736"/>
            <a:ext cx="10671048" cy="822960"/>
          </a:xfrm>
          <a:prstGeom prst="roundRect">
            <a:avLst/>
          </a:prstGeom>
          <a:solidFill>
            <a:srgbClr val="1A1A1A"/>
          </a:solidFill>
          <a:ln w="63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194560" y="1115568"/>
            <a:ext cx="2286000" cy="292608"/>
          </a:xfrm>
          <a:prstGeom prst="rect">
            <a:avLst/>
          </a:prstGeom>
          <a:solidFill>
            <a:srgbClr val="86BC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286000" y="1143000"/>
            <a:ext cx="2103120" cy="219456"/>
          </a:xfrm>
          <a:prstGeom prst="rect">
            <a:avLst/>
          </a:prstGeom>
          <a:noFill/>
        </p:spPr>
        <p:txBody>
          <a:bodyPr wrap="square">
            <a:spAutoFit/>
          </a:bodyPr>
          <a:lstStyle/>
          <a:p>
            <a:pPr algn="l"/>
            <a:r>
              <a:rPr sz="1000" b="1">
                <a:solidFill>
                  <a:srgbClr val="FFFFFF"/>
                </a:solidFill>
                <a:latin typeface="Aptos"/>
              </a:rPr>
              <a:t>1 — PKCE Login</a:t>
            </a:r>
          </a:p>
        </p:txBody>
      </p:sp>
      <p:sp>
        <p:nvSpPr>
          <p:cNvPr id="19" name="Rounded Rectangle 18"/>
          <p:cNvSpPr/>
          <p:nvPr/>
        </p:nvSpPr>
        <p:spPr>
          <a:xfrm>
            <a:off x="2194560" y="1408176"/>
            <a:ext cx="2286000" cy="676656"/>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86000" y="1463040"/>
            <a:ext cx="2103120" cy="566928"/>
          </a:xfrm>
          <a:prstGeom prst="rect">
            <a:avLst/>
          </a:prstGeom>
          <a:noFill/>
        </p:spPr>
        <p:txBody>
          <a:bodyPr wrap="square">
            <a:spAutoFit/>
          </a:bodyPr>
          <a:lstStyle/>
          <a:p>
            <a:pPr algn="l"/>
            <a:r>
              <a:rPr sz="1000" b="0">
                <a:solidFill>
                  <a:srgbClr val="FFFFFF"/>
                </a:solidFill>
                <a:latin typeface="Aptos"/>
              </a:rPr>
              <a:t>User signs in to the banking app via Okta. Receives access_token (aud: api://banking).</a:t>
            </a:r>
          </a:p>
        </p:txBody>
      </p:sp>
      <p:sp>
        <p:nvSpPr>
          <p:cNvPr id="21" name="Rectangle 20"/>
          <p:cNvSpPr/>
          <p:nvPr/>
        </p:nvSpPr>
        <p:spPr>
          <a:xfrm>
            <a:off x="5221224" y="1115568"/>
            <a:ext cx="2286000" cy="292608"/>
          </a:xfrm>
          <a:prstGeom prst="rect">
            <a:avLst/>
          </a:prstGeom>
          <a:solidFill>
            <a:srgbClr val="2689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12664" y="1143000"/>
            <a:ext cx="2103120" cy="219456"/>
          </a:xfrm>
          <a:prstGeom prst="rect">
            <a:avLst/>
          </a:prstGeom>
          <a:noFill/>
        </p:spPr>
        <p:txBody>
          <a:bodyPr wrap="square">
            <a:spAutoFit/>
          </a:bodyPr>
          <a:lstStyle/>
          <a:p>
            <a:pPr algn="l"/>
            <a:r>
              <a:rPr sz="1000" b="1">
                <a:solidFill>
                  <a:srgbClr val="FFFFFF"/>
                </a:solidFill>
                <a:latin typeface="Aptos"/>
              </a:rPr>
              <a:t>2 — Token to Agent</a:t>
            </a:r>
          </a:p>
        </p:txBody>
      </p:sp>
      <p:sp>
        <p:nvSpPr>
          <p:cNvPr id="23" name="Rounded Rectangle 22"/>
          <p:cNvSpPr/>
          <p:nvPr/>
        </p:nvSpPr>
        <p:spPr>
          <a:xfrm>
            <a:off x="5221224" y="1408176"/>
            <a:ext cx="2286000" cy="676656"/>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12664" y="1463040"/>
            <a:ext cx="2103120" cy="566928"/>
          </a:xfrm>
          <a:prstGeom prst="rect">
            <a:avLst/>
          </a:prstGeom>
          <a:noFill/>
        </p:spPr>
        <p:txBody>
          <a:bodyPr wrap="square">
            <a:spAutoFit/>
          </a:bodyPr>
          <a:lstStyle/>
          <a:p>
            <a:pPr algn="l"/>
            <a:r>
              <a:rPr sz="1000" b="0">
                <a:solidFill>
                  <a:srgbClr val="FFFFFF"/>
                </a:solidFill>
                <a:latin typeface="Aptos"/>
              </a:rPr>
              <a:t>User's access_token shared with Python agent via PKCE flow or explicit paste.</a:t>
            </a:r>
          </a:p>
        </p:txBody>
      </p:sp>
      <p:sp>
        <p:nvSpPr>
          <p:cNvPr id="25" name="Rectangle 24"/>
          <p:cNvSpPr/>
          <p:nvPr/>
        </p:nvSpPr>
        <p:spPr>
          <a:xfrm>
            <a:off x="8257031" y="1115568"/>
            <a:ext cx="2286000" cy="292608"/>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48471" y="1143000"/>
            <a:ext cx="2103120" cy="219456"/>
          </a:xfrm>
          <a:prstGeom prst="rect">
            <a:avLst/>
          </a:prstGeom>
          <a:noFill/>
        </p:spPr>
        <p:txBody>
          <a:bodyPr wrap="square">
            <a:spAutoFit/>
          </a:bodyPr>
          <a:lstStyle/>
          <a:p>
            <a:pPr algn="l"/>
            <a:r>
              <a:rPr sz="1000" b="1">
                <a:solidFill>
                  <a:srgbClr val="FFFFFF"/>
                </a:solidFill>
                <a:latin typeface="Aptos"/>
              </a:rPr>
              <a:t>3 — MCP Call</a:t>
            </a:r>
          </a:p>
        </p:txBody>
      </p:sp>
      <p:sp>
        <p:nvSpPr>
          <p:cNvPr id="27" name="Rounded Rectangle 26"/>
          <p:cNvSpPr/>
          <p:nvPr/>
        </p:nvSpPr>
        <p:spPr>
          <a:xfrm>
            <a:off x="8257031" y="1408176"/>
            <a:ext cx="2286000" cy="676656"/>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48471" y="1463040"/>
            <a:ext cx="2103120" cy="566928"/>
          </a:xfrm>
          <a:prstGeom prst="rect">
            <a:avLst/>
          </a:prstGeom>
          <a:noFill/>
        </p:spPr>
        <p:txBody>
          <a:bodyPr wrap="square">
            <a:spAutoFit/>
          </a:bodyPr>
          <a:lstStyle/>
          <a:p>
            <a:pPr algn="l"/>
            <a:r>
              <a:rPr sz="1000" b="0">
                <a:solidFill>
                  <a:srgbClr val="FFFFFF"/>
                </a:solidFill>
                <a:latin typeface="Aptos"/>
              </a:rPr>
              <a:t>Agent sends MCP tool call with x-user-token and X-Agent-Token identity headers.</a:t>
            </a:r>
          </a:p>
        </p:txBody>
      </p:sp>
      <p:sp>
        <p:nvSpPr>
          <p:cNvPr id="29" name="Rectangle 28"/>
          <p:cNvSpPr/>
          <p:nvPr/>
        </p:nvSpPr>
        <p:spPr>
          <a:xfrm>
            <a:off x="2194560" y="2249424"/>
            <a:ext cx="2286000" cy="292608"/>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286000" y="2276856"/>
            <a:ext cx="2103120" cy="219456"/>
          </a:xfrm>
          <a:prstGeom prst="rect">
            <a:avLst/>
          </a:prstGeom>
          <a:noFill/>
        </p:spPr>
        <p:txBody>
          <a:bodyPr wrap="square">
            <a:spAutoFit/>
          </a:bodyPr>
          <a:lstStyle/>
          <a:p>
            <a:pPr algn="l"/>
            <a:r>
              <a:rPr sz="1000" b="1">
                <a:solidFill>
                  <a:srgbClr val="FFFFFF"/>
                </a:solidFill>
                <a:latin typeface="Aptos"/>
              </a:rPr>
              <a:t>4 — Policy Evaluation</a:t>
            </a:r>
          </a:p>
        </p:txBody>
      </p:sp>
      <p:sp>
        <p:nvSpPr>
          <p:cNvPr id="31" name="Rounded Rectangle 30"/>
          <p:cNvSpPr/>
          <p:nvPr/>
        </p:nvSpPr>
        <p:spPr>
          <a:xfrm>
            <a:off x="2194560" y="2542032"/>
            <a:ext cx="2286000" cy="1024128"/>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286000" y="2596896"/>
            <a:ext cx="2103120" cy="914400"/>
          </a:xfrm>
          <a:prstGeom prst="rect">
            <a:avLst/>
          </a:prstGeom>
          <a:noFill/>
        </p:spPr>
        <p:txBody>
          <a:bodyPr wrap="square">
            <a:spAutoFit/>
          </a:bodyPr>
          <a:lstStyle/>
          <a:p>
            <a:pPr algn="l"/>
            <a:r>
              <a:rPr sz="1000" b="0">
                <a:solidFill>
                  <a:srgbClr val="FFFFFF"/>
                </a:solidFill>
                <a:latin typeface="Aptos"/>
              </a:rPr>
              <a:t>Deny-by-default Cedar policy evaluated. User token and agent identity validated. No permit match = call blocked.</a:t>
            </a:r>
          </a:p>
        </p:txBody>
      </p:sp>
      <p:sp>
        <p:nvSpPr>
          <p:cNvPr id="33" name="Rectangle 32"/>
          <p:cNvSpPr/>
          <p:nvPr/>
        </p:nvSpPr>
        <p:spPr>
          <a:xfrm>
            <a:off x="5221224" y="2249424"/>
            <a:ext cx="2286000" cy="292608"/>
          </a:xfrm>
          <a:prstGeom prst="rect">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12664" y="2276856"/>
            <a:ext cx="2103120" cy="219456"/>
          </a:xfrm>
          <a:prstGeom prst="rect">
            <a:avLst/>
          </a:prstGeom>
          <a:noFill/>
        </p:spPr>
        <p:txBody>
          <a:bodyPr wrap="square">
            <a:spAutoFit/>
          </a:bodyPr>
          <a:lstStyle/>
          <a:p>
            <a:pPr algn="l"/>
            <a:r>
              <a:rPr sz="1000" b="1">
                <a:solidFill>
                  <a:srgbClr val="FFFFFF"/>
                </a:solidFill>
                <a:latin typeface="Aptos"/>
              </a:rPr>
              <a:t>5 — OBO Exchange</a:t>
            </a:r>
          </a:p>
        </p:txBody>
      </p:sp>
      <p:sp>
        <p:nvSpPr>
          <p:cNvPr id="35" name="Rounded Rectangle 34"/>
          <p:cNvSpPr/>
          <p:nvPr/>
        </p:nvSpPr>
        <p:spPr>
          <a:xfrm>
            <a:off x="5221224" y="2542032"/>
            <a:ext cx="2286000" cy="1024128"/>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312664" y="2596896"/>
            <a:ext cx="2103120" cy="914400"/>
          </a:xfrm>
          <a:prstGeom prst="rect">
            <a:avLst/>
          </a:prstGeom>
          <a:noFill/>
        </p:spPr>
        <p:txBody>
          <a:bodyPr wrap="square">
            <a:spAutoFit/>
          </a:bodyPr>
          <a:lstStyle/>
          <a:p>
            <a:pPr algn="l"/>
            <a:r>
              <a:rPr sz="1000" b="0">
                <a:solidFill>
                  <a:srgbClr val="FFFFFF"/>
                </a:solidFill>
                <a:latin typeface="Aptos"/>
              </a:rPr>
              <a:t>RFC 8693 token exchange posted to Okta Auth Server B. User token as subject_token. Result cached in Redis.</a:t>
            </a:r>
          </a:p>
        </p:txBody>
      </p:sp>
      <p:sp>
        <p:nvSpPr>
          <p:cNvPr id="37" name="Rectangle 36"/>
          <p:cNvSpPr/>
          <p:nvPr/>
        </p:nvSpPr>
        <p:spPr>
          <a:xfrm>
            <a:off x="8257031" y="2249424"/>
            <a:ext cx="2286000" cy="292608"/>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48471" y="2276856"/>
            <a:ext cx="2103120" cy="219456"/>
          </a:xfrm>
          <a:prstGeom prst="rect">
            <a:avLst/>
          </a:prstGeom>
          <a:noFill/>
        </p:spPr>
        <p:txBody>
          <a:bodyPr wrap="square">
            <a:spAutoFit/>
          </a:bodyPr>
          <a:lstStyle/>
          <a:p>
            <a:pPr algn="l"/>
            <a:r>
              <a:rPr sz="1000" b="1">
                <a:solidFill>
                  <a:srgbClr val="FFFFFF"/>
                </a:solidFill>
                <a:latin typeface="Aptos"/>
              </a:rPr>
              <a:t>6 — Proxy + Audit</a:t>
            </a:r>
          </a:p>
        </p:txBody>
      </p:sp>
      <p:sp>
        <p:nvSpPr>
          <p:cNvPr id="39" name="Rounded Rectangle 38"/>
          <p:cNvSpPr/>
          <p:nvPr/>
        </p:nvSpPr>
        <p:spPr>
          <a:xfrm>
            <a:off x="8257031" y="2542032"/>
            <a:ext cx="2286000" cy="1024128"/>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48471" y="2596896"/>
            <a:ext cx="2103120" cy="914400"/>
          </a:xfrm>
          <a:prstGeom prst="rect">
            <a:avLst/>
          </a:prstGeom>
          <a:noFill/>
        </p:spPr>
        <p:txBody>
          <a:bodyPr wrap="square">
            <a:spAutoFit/>
          </a:bodyPr>
          <a:lstStyle/>
          <a:p>
            <a:pPr algn="l"/>
            <a:r>
              <a:rPr sz="1000" b="0">
                <a:solidFill>
                  <a:srgbClr val="FFFFFF"/>
                </a:solidFill>
                <a:latin typeface="Aptos"/>
              </a:rPr>
              <a:t>MCP call forwarded to Banking MCP Server with OBO token. Full invocation record written to audit log.</a:t>
            </a:r>
          </a:p>
        </p:txBody>
      </p:sp>
      <p:sp>
        <p:nvSpPr>
          <p:cNvPr id="41" name="Rectangle 40"/>
          <p:cNvSpPr/>
          <p:nvPr/>
        </p:nvSpPr>
        <p:spPr>
          <a:xfrm>
            <a:off x="5221224" y="3767328"/>
            <a:ext cx="2286000" cy="274320"/>
          </a:xfrm>
          <a:prstGeom prst="rect">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312664" y="3794760"/>
            <a:ext cx="2103120" cy="201168"/>
          </a:xfrm>
          <a:prstGeom prst="rect">
            <a:avLst/>
          </a:prstGeom>
          <a:noFill/>
        </p:spPr>
        <p:txBody>
          <a:bodyPr wrap="square">
            <a:spAutoFit/>
          </a:bodyPr>
          <a:lstStyle/>
          <a:p>
            <a:pPr algn="l"/>
            <a:r>
              <a:rPr sz="1000" b="1">
                <a:solidFill>
                  <a:srgbClr val="FFFFFF"/>
                </a:solidFill>
                <a:latin typeface="Aptos"/>
              </a:rPr>
              <a:t>7 — OBO Token Issued</a:t>
            </a:r>
          </a:p>
        </p:txBody>
      </p:sp>
      <p:sp>
        <p:nvSpPr>
          <p:cNvPr id="43" name="Rounded Rectangle 42"/>
          <p:cNvSpPr/>
          <p:nvPr/>
        </p:nvSpPr>
        <p:spPr>
          <a:xfrm>
            <a:off x="5221224" y="4041648"/>
            <a:ext cx="2286000" cy="585216"/>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312664" y="4096512"/>
            <a:ext cx="2103120" cy="512064"/>
          </a:xfrm>
          <a:prstGeom prst="rect">
            <a:avLst/>
          </a:prstGeom>
          <a:noFill/>
        </p:spPr>
        <p:txBody>
          <a:bodyPr wrap="square">
            <a:spAutoFit/>
          </a:bodyPr>
          <a:lstStyle/>
          <a:p>
            <a:pPr algn="l"/>
            <a:r>
              <a:rPr sz="1000" b="0">
                <a:solidFill>
                  <a:srgbClr val="FFFFFF"/>
                </a:solidFill>
                <a:latin typeface="Aptos"/>
              </a:rPr>
              <a:t>Exchange validated. Issues token (aud: api://banking-mcp) with user sub claim preserved.</a:t>
            </a:r>
          </a:p>
        </p:txBody>
      </p:sp>
      <p:sp>
        <p:nvSpPr>
          <p:cNvPr id="45" name="Rectangle 44"/>
          <p:cNvSpPr/>
          <p:nvPr/>
        </p:nvSpPr>
        <p:spPr>
          <a:xfrm>
            <a:off x="8257031" y="4782312"/>
            <a:ext cx="2286000" cy="274320"/>
          </a:xfrm>
          <a:prstGeom prst="rect">
            <a:avLst/>
          </a:prstGeom>
          <a:solidFill>
            <a:srgbClr val="0055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348471" y="4809744"/>
            <a:ext cx="2103120" cy="201168"/>
          </a:xfrm>
          <a:prstGeom prst="rect">
            <a:avLst/>
          </a:prstGeom>
          <a:noFill/>
        </p:spPr>
        <p:txBody>
          <a:bodyPr wrap="square">
            <a:spAutoFit/>
          </a:bodyPr>
          <a:lstStyle/>
          <a:p>
            <a:pPr algn="l"/>
            <a:r>
              <a:rPr sz="1000" b="1">
                <a:solidFill>
                  <a:srgbClr val="FFFFFF"/>
                </a:solidFill>
                <a:latin typeface="Aptos"/>
              </a:rPr>
              <a:t>8 — Execute as the User</a:t>
            </a:r>
          </a:p>
        </p:txBody>
      </p:sp>
      <p:sp>
        <p:nvSpPr>
          <p:cNvPr id="47" name="Rounded Rectangle 46"/>
          <p:cNvSpPr/>
          <p:nvPr/>
        </p:nvSpPr>
        <p:spPr>
          <a:xfrm>
            <a:off x="8257031" y="5056632"/>
            <a:ext cx="2286000" cy="512064"/>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48471" y="5102352"/>
            <a:ext cx="2103120" cy="420624"/>
          </a:xfrm>
          <a:prstGeom prst="rect">
            <a:avLst/>
          </a:prstGeom>
          <a:noFill/>
        </p:spPr>
        <p:txBody>
          <a:bodyPr wrap="square">
            <a:spAutoFit/>
          </a:bodyPr>
          <a:lstStyle/>
          <a:p>
            <a:pPr algn="l"/>
            <a:r>
              <a:rPr sz="1000" b="0">
                <a:solidFill>
                  <a:srgbClr val="FFFFFF"/>
                </a:solidFill>
                <a:latin typeface="Aptos"/>
              </a:rPr>
              <a:t>OBO token decoded, user sub read. Every action bound to that user via getOrCreateUser(sub).</a:t>
            </a:r>
          </a:p>
        </p:txBody>
      </p:sp>
      <p:sp>
        <p:nvSpPr>
          <p:cNvPr id="49" name="Rectangle 48"/>
          <p:cNvSpPr/>
          <p:nvPr/>
        </p:nvSpPr>
        <p:spPr>
          <a:xfrm>
            <a:off x="9389059" y="2084831"/>
            <a:ext cx="21945" cy="128016"/>
          </a:xfrm>
          <a:prstGeom prst="rect">
            <a:avLst/>
          </a:prstGeom>
          <a:solidFill>
            <a:srgbClr val="0D83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353251" y="3657600"/>
            <a:ext cx="21945" cy="73152"/>
          </a:xfrm>
          <a:prstGeom prst="rect">
            <a:avLst/>
          </a:prstGeom>
          <a:solidFill>
            <a:srgbClr val="007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389059" y="3657600"/>
            <a:ext cx="21945" cy="1088136"/>
          </a:xfrm>
          <a:prstGeom prst="rect">
            <a:avLst/>
          </a:prstGeom>
          <a:solidFill>
            <a:srgbClr val="007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5650992"/>
            <a:ext cx="11274552" cy="228600"/>
          </a:xfrm>
          <a:prstGeom prst="rect">
            <a:avLst/>
          </a:prstGeom>
          <a:noFill/>
        </p:spPr>
        <p:txBody>
          <a:bodyPr wrap="square">
            <a:spAutoFit/>
          </a:bodyPr>
          <a:lstStyle/>
          <a:p>
            <a:pPr algn="l"/>
            <a:r>
              <a:rPr sz="800" b="0">
                <a:solidFill>
                  <a:srgbClr val="75787B"/>
                </a:solidFill>
                <a:latin typeface="Aptos"/>
              </a:rPr>
              <a:t>No shared credentials · Every call audited · Okta validates every hop · User sub preserved end-to-end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rPr sz="800">
                <a:latin typeface="Aptos"/>
              </a:rPr>
              <a:t>Copyright © 2026 Deloitte Development LLC. All rights reserved.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Brand_Theme">
  <a:themeElements>
    <a:clrScheme name="Custom 1">
      <a:dk1>
        <a:sysClr val="windowText" lastClr="000000"/>
      </a:dk1>
      <a:lt1>
        <a:sysClr val="window" lastClr="FFFFFF"/>
      </a:lt1>
      <a:dk2>
        <a:srgbClr val="222222"/>
      </a:dk2>
      <a:lt2>
        <a:srgbClr val="E6E6E6"/>
      </a:lt2>
      <a:accent1>
        <a:srgbClr val="86BC25"/>
      </a:accent1>
      <a:accent2>
        <a:srgbClr val="26890D"/>
      </a:accent2>
      <a:accent3>
        <a:srgbClr val="046A38"/>
      </a:accent3>
      <a:accent4>
        <a:srgbClr val="1C3D26"/>
      </a:accent4>
      <a:accent5>
        <a:srgbClr val="0DF200"/>
      </a:accent5>
      <a:accent6>
        <a:srgbClr val="F1F6E4"/>
      </a:accent6>
      <a:hlink>
        <a:srgbClr val="26890D"/>
      </a:hlink>
      <a:folHlink>
        <a:srgbClr val="7F7F7F"/>
      </a:folHlink>
    </a:clrScheme>
    <a:fontScheme name="Custom 1">
      <a:majorFont>
        <a:latin typeface="Aptos"/>
        <a:ea typeface=""/>
        <a:cs typeface=""/>
      </a:majorFont>
      <a:minorFont>
        <a:latin typeface="Apto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5">
      <a:srgbClr val="009A44"/>
    </a:custClr>
    <a:custClr name="Green 4">
      <a:srgbClr val="43B02A"/>
    </a:custClr>
    <a:custClr name="Green 2">
      <a:srgbClr val="C4D600"/>
    </a:custClr>
    <a:custClr name="Green 1">
      <a:srgbClr val="E3E48D"/>
    </a:custClr>
    <a:custClr name="Teal 8">
      <a:srgbClr val="0D8390"/>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8">
      <a:srgbClr val="007CB0"/>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Bright Teal">
      <a:srgbClr val="3EFAC5"/>
    </a:custClr>
    <a:custClr name="Bright Blue">
      <a:srgbClr val="33F0FF"/>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rand_Theme" id="{917CC780-C041-4F84-B057-DE63A8CDEF25}" vid="{5A16EDA9-025E-49B0-B403-896FAE83D1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7C0B5E8C28FBB4DB6BB6E6547CA8A70" ma:contentTypeVersion="14" ma:contentTypeDescription="Create a new document." ma:contentTypeScope="" ma:versionID="4c6617896dbd6066d418e5883b6ed562">
  <xsd:schema xmlns:xsd="http://www.w3.org/2001/XMLSchema" xmlns:xs="http://www.w3.org/2001/XMLSchema" xmlns:p="http://schemas.microsoft.com/office/2006/metadata/properties" xmlns:ns3="8f1e2369-70da-40d7-b978-99d0855b91b8" xmlns:ns4="8ee28f6f-733e-446a-845c-015b8614e1f7" targetNamespace="http://schemas.microsoft.com/office/2006/metadata/properties" ma:root="true" ma:fieldsID="7beb73ffafaeb73ea273bd43962ac528" ns3:_="" ns4:_="">
    <xsd:import namespace="8f1e2369-70da-40d7-b978-99d0855b91b8"/>
    <xsd:import namespace="8ee28f6f-733e-446a-845c-015b8614e1f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4:SharedWithUsers" minOccurs="0"/>
                <xsd:element ref="ns4:SharedWithDetails" minOccurs="0"/>
                <xsd:element ref="ns4:SharingHintHash" minOccurs="0"/>
                <xsd:element ref="ns3:MediaServiceLocation" minOccurs="0"/>
                <xsd:element ref="ns3:MediaServiceGenerationTime" minOccurs="0"/>
                <xsd:element ref="ns3:MediaServiceEventHashCode" minOccurs="0"/>
                <xsd:element ref="ns3:MediaServiceAutoKeyPoints" minOccurs="0"/>
                <xsd:element ref="ns3:MediaServiceKeyPoint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1e2369-70da-40d7-b978-99d0855b91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ee28f6f-733e-446a-845c-015b8614e1f7"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6E6CC2D-2343-40C9-BF57-ACB940668AFF}">
  <ds:schemaRefs>
    <ds:schemaRef ds:uri="http://schemas.microsoft.com/sharepoint/v3/contenttype/forms"/>
  </ds:schemaRefs>
</ds:datastoreItem>
</file>

<file path=customXml/itemProps2.xml><?xml version="1.0" encoding="utf-8"?>
<ds:datastoreItem xmlns:ds="http://schemas.openxmlformats.org/officeDocument/2006/customXml" ds:itemID="{9BBF235D-5BAD-4A08-AEE0-5E29BE15689F}">
  <ds:schemaRefs>
    <ds:schemaRef ds:uri="http://schemas.microsoft.com/office/2006/documentManagement/types"/>
    <ds:schemaRef ds:uri="8f1e2369-70da-40d7-b978-99d0855b91b8"/>
    <ds:schemaRef ds:uri="8ee28f6f-733e-446a-845c-015b8614e1f7"/>
    <ds:schemaRef ds:uri="http://www.w3.org/XML/1998/namespace"/>
    <ds:schemaRef ds:uri="http://purl.org/dc/elements/1.1/"/>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10B2FCBC-AEA4-4167-AEBB-3951BFAB54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1e2369-70da-40d7-b978-99d0855b91b8"/>
    <ds:schemaRef ds:uri="8ee28f6f-733e-446a-845c-015b8614e1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Deloitte_Brand_Theme_102224</Template>
  <TotalTime>0</TotalTime>
  <Words>8233</Words>
  <Application>Microsoft Macintosh PowerPoint</Application>
  <PresentationFormat>Widescreen</PresentationFormat>
  <Paragraphs>941</Paragraphs>
  <Slides>66</Slides>
  <Notes>47</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66</vt:i4>
      </vt:variant>
    </vt:vector>
  </HeadingPairs>
  <TitlesOfParts>
    <vt:vector size="75" baseType="lpstr">
      <vt:lpstr>Aptos</vt:lpstr>
      <vt:lpstr>Arial</vt:lpstr>
      <vt:lpstr>Calibri</vt:lpstr>
      <vt:lpstr>Open Sans</vt:lpstr>
      <vt:lpstr>Verdana</vt:lpstr>
      <vt:lpstr>Wingdings</vt:lpstr>
      <vt:lpstr>Wingdings 2</vt:lpstr>
      <vt:lpstr>Deloitte_Brand_Theme</vt:lpstr>
      <vt:lpstr>think-cell Slide</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Document  heading  three lines</vt:lpstr>
      <vt:lpstr>Document  heading  three lines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The size or weight of Aptos used in  the headline can be adapted to suit your needs</vt:lpstr>
      <vt:lpstr>Document  heading two lines</vt:lpstr>
      <vt:lpstr>Document  heading two lines</vt:lpstr>
      <vt:lpstr>Brand basics</vt:lpstr>
      <vt:lpstr>Brand basics</vt:lpstr>
      <vt:lpstr>Brand basics</vt:lpstr>
      <vt:lpstr>Brand basics</vt:lpstr>
      <vt:lpstr>Brand basics</vt:lpstr>
      <vt:lpstr>Brand basics</vt:lpstr>
      <vt:lpstr>Page title</vt:lpstr>
      <vt:lpstr>PowerPoint Presentation</vt:lpstr>
      <vt:lpstr>PowerPoint Presentation</vt:lpstr>
      <vt:lpstr>Page title</vt:lpstr>
      <vt:lpstr>PowerPoint Presentation</vt:lpstr>
      <vt:lpstr>PowerPoint Presentation</vt:lpstr>
      <vt:lpstr>Divider slide text</vt:lpstr>
      <vt:lpstr>Divider slide text</vt:lpstr>
      <vt:lpstr>Divider slide text</vt:lpstr>
      <vt:lpstr>Divider slide text</vt:lpstr>
      <vt:lpstr>Divider slide text</vt:lpstr>
      <vt:lpstr>Divider slide text</vt:lpstr>
      <vt:lpstr>Divider slide text</vt:lpstr>
      <vt:lpstr>Divider slide text</vt:lpstr>
      <vt:lpstr>Key statement slide this text is not here to be read highlight key text in italics this text is not here to be read it is here to show how this document will look when filled with real text  </vt:lpstr>
      <vt:lpstr>Text and chart slide</vt:lpstr>
      <vt:lpstr>Text and chart slide</vt:lpstr>
      <vt:lpstr>Text and stacked bar chart </vt:lpstr>
      <vt:lpstr>Text and stacked bar chart </vt:lpstr>
      <vt:lpstr>Bar chart with infographics</vt:lpstr>
      <vt:lpstr>Horizontal stacked bar chart</vt:lpstr>
      <vt:lpstr>Tornado chart</vt:lpstr>
      <vt:lpstr>Line title</vt:lpstr>
      <vt:lpstr>Line title</vt:lpstr>
      <vt:lpstr>Scatter chart</vt:lpstr>
      <vt:lpstr>Page title</vt:lpstr>
      <vt:lpstr>Text boxes with arrows</vt:lpstr>
      <vt:lpstr>Three text boxes</vt:lpstr>
      <vt:lpstr>Icon use</vt:lpstr>
      <vt:lpstr>Slide with table</vt:lpstr>
      <vt:lpstr>Data table</vt:lpstr>
      <vt:lpstr>Flow table</vt:lpstr>
      <vt:lpstr>Project timeline</vt:lpstr>
      <vt:lpstr>Page title</vt:lpstr>
      <vt:lpstr>Team</vt:lpstr>
      <vt:lpstr>Curriculum vitae</vt:lpstr>
      <vt:lpstr>Organizational chart</vt:lpstr>
      <vt:lpstr>Proposed team structure and responsibilities</vt:lpstr>
      <vt:lpstr>Team structure chart</vt:lpstr>
      <vt:lpstr>Pyramid diagrams</vt:lpstr>
      <vt:lpstr>Quotation boxes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16x9 Onscreen PPT</dc:title>
  <dc:creator/>
  <cp:lastModifiedBy/>
  <cp:revision>2</cp:revision>
  <dcterms:created xsi:type="dcterms:W3CDTF">2020-04-09T19:50:51Z</dcterms:created>
  <dcterms:modified xsi:type="dcterms:W3CDTF">2026-02-27T19:00:31Z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2021-04-05T20:58:38Z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9ab57f92-f9f5-4e1c-bb56-f04159416863</vt:lpwstr>
  </property>
  <property fmtid="{D5CDD505-2E9C-101B-9397-08002B2CF9AE}" pid="8" name="MSIP_Label_ea60d57e-af5b-4752-ac57-3e4f28ca11dc_ContentBits">
    <vt:lpwstr>0</vt:lpwstr>
  </property>
  <property fmtid="{D5CDD505-2E9C-101B-9397-08002B2CF9AE}" pid="9" name="ContentTypeId">
    <vt:lpwstr>0x01010097C0B5E8C28FBB4DB6BB6E6547CA8A70</vt:lpwstr>
  </property>
</Properties>
</file>